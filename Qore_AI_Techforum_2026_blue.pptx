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Impact %</c:v>
                </c:pt>
              </c:strCache>
            </c:strRef>
          </c:tx>
          <c:dPt>
            <c:idx val="0"/>
            <c:spPr>
              <a:solidFill>
                <a:srgbClr val="22D3EE"/>
              </a:solidFill>
              <a:ln>
                <a:noFill/>
              </a:ln>
            </c:spPr>
          </c:dPt>
          <c:dPt>
            <c:idx val="1"/>
            <c:spPr>
              <a:solidFill>
                <a:srgbClr val="6366F1"/>
              </a:solidFill>
              <a:ln>
                <a:noFill/>
              </a:ln>
            </c:spPr>
          </c:dPt>
          <c:dPt>
            <c:idx val="2"/>
            <c:spPr>
              <a:solidFill>
                <a:srgbClr val="8B5CF6"/>
              </a:solidFill>
              <a:ln>
                <a:noFill/>
              </a:ln>
            </c:spPr>
          </c:dPt>
          <c:dPt>
            <c:idx val="3"/>
            <c:spPr>
              <a:solidFill>
                <a:srgbClr val="A855F7"/>
              </a:solidFill>
              <a:ln>
                <a:noFill/>
              </a:ln>
            </c:spPr>
          </c:dPt>
          <c:dPt>
            <c:idx val="4"/>
            <c:spPr>
              <a:solidFill>
                <a:srgbClr val="34D399"/>
              </a:solidFill>
              <a:ln>
                <a:noFill/>
              </a:ln>
            </c:spPr>
          </c:dPt>
          <c:dPt>
            <c:idx val="5"/>
            <c:spPr>
              <a:solidFill>
                <a:srgbClr val="22D3EE"/>
              </a:solidFill>
              <a:ln>
                <a:noFill/>
              </a:ln>
            </c:spPr>
          </c:dPt>
          <c:dPt>
            <c:idx val="6"/>
            <c:spPr>
              <a:solidFill>
                <a:srgbClr val="6366F1"/>
              </a:solidFill>
              <a:ln>
                <a:noFill/>
              </a:ln>
            </c:spPr>
          </c:dPt>
          <c:cat>
            <c:strRef>
              <c:f>Sheet1!$A$2:$A$8</c:f>
              <c:strCache>
                <c:ptCount val="7"/>
                <c:pt idx="0">
                  <c:v>Hiring
Cycle ↓</c:v>
                </c:pt>
                <c:pt idx="1">
                  <c:v>Screening
Auto ↑</c:v>
                </c:pt>
                <c:pt idx="2">
                  <c:v>Recruiter
Prod ↑</c:v>
                </c:pt>
                <c:pt idx="3">
                  <c:v>Assessment
Coverage ↑</c:v>
                </c:pt>
                <c:pt idx="4">
                  <c:v>Op. Cost ↓</c:v>
                </c:pt>
                <c:pt idx="5">
                  <c:v>Candidate
Quality ↑</c:v>
                </c:pt>
                <c:pt idx="6">
                  <c:v>Learning
Adoption ↑</c:v>
                </c:pt>
              </c:strCache>
            </c:strRef>
          </c:cat>
          <c:val>
            <c:numRef>
              <c:f>Sheet1!$B$2:$B$8</c:f>
              <c:numCache>
                <c:formatCode>General</c:formatCode>
                <c:ptCount val="7"/>
                <c:pt idx="0">
                  <c:v>60</c:v>
                </c:pt>
                <c:pt idx="1">
                  <c:v>85</c:v>
                </c:pt>
                <c:pt idx="2">
                  <c:v>200</c:v>
                </c:pt>
                <c:pt idx="3">
                  <c:v>90</c:v>
                </c:pt>
                <c:pt idx="4">
                  <c:v>40</c:v>
                </c:pt>
                <c:pt idx="5">
                  <c:v>35</c:v>
                </c:pt>
                <c:pt idx="6">
                  <c:v>50</c:v>
                </c:pt>
              </c:numCache>
            </c:numRef>
          </c:val>
        </c:ser>
        <c:dLbls>
          <c:numFmt formatCode="0&quot;%&quot;" sourceLinked="0"/>
          <c:txPr>
            <a:bodyPr/>
            <a:lstStyle/>
            <a:p>
              <a:pPr>
                <a:defRPr sz="900" b="1">
                  <a:solidFill>
                    <a:srgbClr val="F4F8F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3A4D80"/>
            </a:solidFill>
          </a:ln>
        </c:spPr>
        <c:txPr>
          <a:bodyPr/>
          <a:lstStyle/>
          <a:p>
            <a:pPr>
              <a:defRPr sz="800">
                <a:solidFill>
                  <a:srgbClr val="A9B6D6"/>
                </a:solidFill>
              </a:defRPr>
            </a:pPr>
          </a:p>
        </c:txPr>
        <c:crossAx val="-2113994440"/>
        <c:crosses val="autoZero"/>
        <c:auto val="1"/>
        <c:lblAlgn val="ctr"/>
        <c:lblOffset val="100"/>
        <c:noMultiLvlLbl val="0"/>
      </c:catAx>
      <c:valAx>
        <c:axId val="-2113994440"/>
        <c:scaling>
          <c:max val="22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Techforum 2026. Today I'm introducing Qore.AI — an AI-driven intelligent hiring orchestrator. Rather than another point tool, Qore.AI manages the entire talent journey end to end: a candidate applies, our AI assesses their skills, conducts a proctored interview, supports the hiring decision, and then powers personalized learning once they're onboard. The flow you see along the bottom is the storyline for the next few minutes — one continuous, autonomous pipeline from applicant to high-performing employee.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ground this in the problem. Hiring today is slow, manual and inconsistent. Recruiters spend roughly 70% of their time just screening resumes, and about 40% of interview effort is wasted on candidates who were never qualified. Evaluation varies by interviewer, bias creeps in, and skill gaps surface far too late. The business pays for this in higher cost-per-hire, delayed delivery, weaker workforce quality and avoidable attrition. This is the value gap Qore.AI is built to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hiring works in most enterprises today — a linear, manual chain: applications, resume screening, assessment, interview, selection. Every hand-off is manual and the tools are fragmented, so the process doesn't scale, decisions are slow, and costs stay high — with no learning loop after the hire. On the right you can see where it consistently breaks down: productivity, cost, scalability and operational complexity. These four pressure points are exactly what an orchestrated, AI-native approach removes.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Qore.AI replaces that fragmented chain with a single orchestrated platform. At the center is one AI core; around it sit seven coordinated modules — resume intelligence, autonomous skill assessment, real-time proctoring, AI interview orchestration, a candidate ranking engine, personalized learning pathways, and analytics. Because they share one brain and one data model, the platform delivers true end-to-end orchestration, autonomous assessments, AI-powered decision support, and — critically — continuous skill development after the hire.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Qore.AI is a clean five-layer, cloud-native stack. Layer one ingests candidates from every channel — career portal, LinkedIn, job boards and internal mobility. Layer two is the Qore.AI platform itself: resume parser, a candidate knowledge graph, and the assessment, proctoring, interview and recommendation engines. These are powered by layer three, the GenAI layer — LLM services, prompt orchestration, a RAG engine and skill mapping. Layer four integrates with enterprise systems of record — HRMS, ATS, LMS and analytics — so Qore.AI augments rather than rips and replaces. Finally, layer five surfaces everything through role-based dashboards for recruiters, leadership and candidates.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isn't a feature here — it's the core. Six GenAI capabilities ring the engine: semantic resume understanding, skill-graph intelligence, dynamic GenAI assessment generation, an AI interview assistant that evaluates and scores, real-time proctoring that watches for faces, tab-switching and anomalies, and personalized learning recommendations. Underneath, the stack combines LLMs, retrieval-augmented generation, a vector database, knowledge graphs and agentic AI — so the system reasons over grounded enterprise data and can act autonomously rather than just answer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outcomes — what executives care about. Qore.AI cuts hiring-cycle time by around 60%, automates roughly 85% of screening, and lifts recruiter productivity about threefold. Assessment coverage rises to 90%, operational cost-to-hire drops by ~40%, candidate quality improves ~35%, and learning adoption climbs ~50%. The chart shows the uplift across the funnel; the panel on the right captures the softer but equally important wins — faster decisions, a better candidate experience, lighter interviewer load, and a more ready workforce. These are illustrative target benchmarks based on the platform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one-off product — it's a roadmap. Phase one, where we are today, is AI hiring automation. Phase two adds predictive hiring analytics so we forecast success, not just screen. Phase three moves to an autonomous, multi-agent recruiting ecosystem. Phase four opens an internal talent marketplace that optimizes internal mobility. It all rides on a cloud-native, multi-region, enterprise-secure foundation built for millions of evaluations and real-time inference. The vision: evolve Qore.AI from a hiring platform into a full enterprise talent-intelligence ecosystem.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To recap: Qore.AI transforms talent acquisition by orchestrating the entire journey with AI — from application and autonomous assessment through proctored AI interviews and hiring decisions, into personalized, continuous learning. It's enterprise-grade, cloud-native and built to scale. I'd love to discuss how we pilot this in your organization. Let's connect, innovate and transform hiring together.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267047" y="-2011680"/>
            <a:ext cx="4023360" cy="4023360"/>
          </a:xfrm>
          <a:prstGeom prst="ellipse">
            <a:avLst/>
          </a:prstGeom>
          <a:ln>
            <a:noFill/>
          </a:ln>
          <a:effectLst/>
          <a:solidFill>
            <a:srgbClr val="22D3EE">
              <a:alpha val="1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26864" y="566928"/>
            <a:ext cx="2926080" cy="384048"/>
          </a:xfrm>
          <a:prstGeom prst="roundRect">
            <a:avLst>
              <a:gd name="adj" fmla="val 50000"/>
            </a:avLst>
          </a:prstGeom>
          <a:ln w="12700">
            <a:solidFill>
              <a:srgbClr val="3A4D80"/>
            </a:solidFill>
          </a:ln>
          <a:effectLst/>
          <a:solidFill>
            <a:srgbClr val="16203D">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22D3EE"/>
                </a:solidFill>
                <a:latin typeface="Segoe UI"/>
              </a:rPr>
              <a:t>TECHFORUM  2026</a:t>
            </a:r>
          </a:p>
        </p:txBody>
      </p:sp>
      <p:sp>
        <p:nvSpPr>
          <p:cNvPr id="7" name="TextBox 6"/>
          <p:cNvSpPr txBox="1"/>
          <p:nvPr/>
        </p:nvSpPr>
        <p:spPr>
          <a:xfrm>
            <a:off x="0" y="1078992"/>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a:solidFill>
                  <a:srgbClr val="22D3EE"/>
                </a:solidFill>
                <a:latin typeface="Segoe UI"/>
              </a:rPr>
              <a:t>Connect</a:t>
            </a:r>
            <a:r>
              <a:rPr sz="1500" b="0">
                <a:solidFill>
                  <a:srgbClr val="6B7AA0"/>
                </a:solidFill>
                <a:latin typeface="Segoe UI"/>
              </a:rPr>
              <a:t>   •   </a:t>
            </a:r>
            <a:r>
              <a:rPr sz="1500" b="1">
                <a:solidFill>
                  <a:srgbClr val="8B5CF6"/>
                </a:solidFill>
                <a:latin typeface="Segoe UI"/>
              </a:rPr>
              <a:t>Innovate</a:t>
            </a:r>
            <a:r>
              <a:rPr sz="1500" b="0">
                <a:solidFill>
                  <a:srgbClr val="6B7AA0"/>
                </a:solidFill>
                <a:latin typeface="Segoe UI"/>
              </a:rPr>
              <a:t>   •   </a:t>
            </a:r>
            <a:r>
              <a:rPr sz="1500" b="1">
                <a:solidFill>
                  <a:srgbClr val="A855F7"/>
                </a:solidFill>
                <a:latin typeface="Segoe UI"/>
              </a:rPr>
              <a:t>Transform</a:t>
            </a:r>
          </a:p>
        </p:txBody>
      </p:sp>
      <p:sp>
        <p:nvSpPr>
          <p:cNvPr id="8" name="TextBox 7"/>
          <p:cNvSpPr txBox="1"/>
          <p:nvPr/>
        </p:nvSpPr>
        <p:spPr>
          <a:xfrm>
            <a:off x="0" y="1417320"/>
            <a:ext cx="12191695" cy="1554480"/>
          </a:xfrm>
          <a:prstGeom prst="rect">
            <a:avLst/>
          </a:prstGeom>
          <a:noFill/>
        </p:spPr>
        <p:txBody>
          <a:bodyPr wrap="square" anchor="t" lIns="0" rIns="0" tIns="0" bIns="0">
            <a:spAutoFit/>
          </a:bodyPr>
          <a:lstStyle/>
          <a:p>
            <a:pPr algn="ctr">
              <a:lnSpc>
                <a:spcPct val="100000"/>
              </a:lnSpc>
              <a:spcBef>
                <a:spcPts val="0"/>
              </a:spcBef>
              <a:spcAft>
                <a:spcPts val="400"/>
              </a:spcAft>
            </a:pPr>
            <a:r>
              <a:rPr sz="9600" b="1">
                <a:gradFill>
                  <a:gsLst>
                    <a:gs pos="0">
                      <a:srgbClr val="22D3EE"/>
                    </a:gs>
                    <a:gs pos="100000">
                      <a:srgbClr val="A855F7"/>
                    </a:gs>
                  </a:gsLst>
                  <a:lin ang="1200000" scaled="1"/>
                </a:gradFill>
                <a:latin typeface="Segoe UI Semibold"/>
              </a:rPr>
              <a:t>Qore.AI</a:t>
            </a:r>
          </a:p>
        </p:txBody>
      </p:sp>
      <p:sp>
        <p:nvSpPr>
          <p:cNvPr id="9" name="TextBox 8"/>
          <p:cNvSpPr txBox="1"/>
          <p:nvPr/>
        </p:nvSpPr>
        <p:spPr>
          <a:xfrm>
            <a:off x="1463040" y="2999232"/>
            <a:ext cx="9265615" cy="822960"/>
          </a:xfrm>
          <a:prstGeom prst="rect">
            <a:avLst/>
          </a:prstGeom>
          <a:noFill/>
        </p:spPr>
        <p:txBody>
          <a:bodyPr wrap="square" anchor="t" lIns="0" rIns="0" tIns="0" bIns="0">
            <a:spAutoFit/>
          </a:bodyPr>
          <a:lstStyle/>
          <a:p>
            <a:pPr algn="ctr">
              <a:lnSpc>
                <a:spcPct val="100000"/>
              </a:lnSpc>
              <a:spcBef>
                <a:spcPts val="0"/>
              </a:spcBef>
              <a:spcAft>
                <a:spcPts val="400"/>
              </a:spcAft>
            </a:pPr>
            <a:r>
              <a:rPr sz="1800" b="1">
                <a:solidFill>
                  <a:srgbClr val="F4F8FF"/>
                </a:solidFill>
                <a:latin typeface="Segoe UI"/>
              </a:rPr>
              <a:t>AI-Driven Intelligent Hiring Orchestrator</a:t>
            </a:r>
          </a:p>
          <a:p>
            <a:pPr algn="ctr">
              <a:lnSpc>
                <a:spcPct val="100000"/>
              </a:lnSpc>
              <a:spcBef>
                <a:spcPts val="0"/>
              </a:spcBef>
              <a:spcAft>
                <a:spcPts val="400"/>
              </a:spcAft>
            </a:pPr>
            <a:r>
              <a:rPr sz="1350" b="0">
                <a:solidFill>
                  <a:srgbClr val="A9B6D6"/>
                </a:solidFill>
                <a:latin typeface="Segoe UI"/>
              </a:rPr>
              <a:t>Autonomous Skill Assessment  ·  Real-Time Proctoring  ·  Personalized Learning Pathways</a:t>
            </a:r>
          </a:p>
        </p:txBody>
      </p:sp>
      <p:sp>
        <p:nvSpPr>
          <p:cNvPr id="10" name="Rounded Rectangle 9"/>
          <p:cNvSpPr/>
          <p:nvPr/>
        </p:nvSpPr>
        <p:spPr>
          <a:xfrm>
            <a:off x="810615"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Candidate</a:t>
            </a:r>
          </a:p>
        </p:txBody>
      </p:sp>
      <p:sp>
        <p:nvSpPr>
          <p:cNvPr id="11" name="Chevron 10"/>
          <p:cNvSpPr/>
          <p:nvPr/>
        </p:nvSpPr>
        <p:spPr>
          <a:xfrm>
            <a:off x="2319375" y="4507992"/>
            <a:ext cx="310896" cy="365760"/>
          </a:xfrm>
          <a:prstGeom prst="chevron">
            <a:avLst/>
          </a:prstGeom>
          <a:ln>
            <a:noFill/>
          </a:ln>
          <a:effectLst/>
          <a:solidFill>
            <a:srgbClr val="22D3EE">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621127"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AI Assessment</a:t>
            </a:r>
          </a:p>
        </p:txBody>
      </p:sp>
      <p:sp>
        <p:nvSpPr>
          <p:cNvPr id="13" name="Chevron 12"/>
          <p:cNvSpPr/>
          <p:nvPr/>
        </p:nvSpPr>
        <p:spPr>
          <a:xfrm>
            <a:off x="4129887" y="4507992"/>
            <a:ext cx="310896" cy="365760"/>
          </a:xfrm>
          <a:prstGeom prst="chevron">
            <a:avLst/>
          </a:prstGeom>
          <a:ln>
            <a:noFill/>
          </a:ln>
          <a:effectLst/>
          <a:solidFill>
            <a:srgbClr val="6366F1">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31639"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AI Interview</a:t>
            </a:r>
          </a:p>
        </p:txBody>
      </p:sp>
      <p:sp>
        <p:nvSpPr>
          <p:cNvPr id="15" name="Chevron 14"/>
          <p:cNvSpPr/>
          <p:nvPr/>
        </p:nvSpPr>
        <p:spPr>
          <a:xfrm>
            <a:off x="5940399" y="4507992"/>
            <a:ext cx="310896" cy="365760"/>
          </a:xfrm>
          <a:prstGeom prst="chevron">
            <a:avLst/>
          </a:prstGeom>
          <a:ln>
            <a:noFill/>
          </a:ln>
          <a:effectLst/>
          <a:solidFill>
            <a:srgbClr val="8B5CF6">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2151"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Proctoring</a:t>
            </a:r>
          </a:p>
        </p:txBody>
      </p:sp>
      <p:sp>
        <p:nvSpPr>
          <p:cNvPr id="17" name="Chevron 16"/>
          <p:cNvSpPr/>
          <p:nvPr/>
        </p:nvSpPr>
        <p:spPr>
          <a:xfrm>
            <a:off x="7750911" y="4507992"/>
            <a:ext cx="310896" cy="365760"/>
          </a:xfrm>
          <a:prstGeom prst="chevron">
            <a:avLst/>
          </a:prstGeom>
          <a:ln>
            <a:noFill/>
          </a:ln>
          <a:effectLst/>
          <a:solidFill>
            <a:srgbClr val="A855F7">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52663"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Hiring</a:t>
            </a:r>
          </a:p>
        </p:txBody>
      </p:sp>
      <p:sp>
        <p:nvSpPr>
          <p:cNvPr id="19" name="Chevron 18"/>
          <p:cNvSpPr/>
          <p:nvPr/>
        </p:nvSpPr>
        <p:spPr>
          <a:xfrm>
            <a:off x="9561423" y="4507992"/>
            <a:ext cx="310896" cy="365760"/>
          </a:xfrm>
          <a:prstGeom prst="chevron">
            <a:avLst/>
          </a:prstGeom>
          <a:ln>
            <a:noFill/>
          </a:ln>
          <a:effectLst/>
          <a:solidFill>
            <a:srgbClr val="6366F1">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863175" y="4160520"/>
            <a:ext cx="1517904" cy="1060704"/>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600" b="0">
                <a:solidFill>
                  <a:srgbClr val="F4F8FF"/>
                </a:solidFill>
                <a:latin typeface="Segoe UI"/>
              </a:rPr>
              <a:t>🚀</a:t>
            </a:r>
          </a:p>
          <a:p>
            <a:pPr algn="ctr">
              <a:lnSpc>
                <a:spcPct val="100000"/>
              </a:lnSpc>
              <a:spcBef>
                <a:spcPts val="0"/>
              </a:spcBef>
              <a:spcAft>
                <a:spcPts val="300"/>
              </a:spcAft>
            </a:pPr>
            <a:r>
              <a:rPr sz="1150" b="1">
                <a:solidFill>
                  <a:srgbClr val="F4F8FF"/>
                </a:solidFill>
                <a:latin typeface="Segoe UI"/>
              </a:rPr>
              <a:t>Learning</a:t>
            </a:r>
          </a:p>
        </p:txBody>
      </p:sp>
      <p:sp>
        <p:nvSpPr>
          <p:cNvPr id="21" name="TextBox 20"/>
          <p:cNvSpPr txBox="1"/>
          <p:nvPr/>
        </p:nvSpPr>
        <p:spPr>
          <a:xfrm>
            <a:off x="0" y="5897880"/>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100" b="0">
                <a:solidFill>
                  <a:srgbClr val="6B7AA0"/>
                </a:solidFill>
                <a:latin typeface="Segoe UI"/>
              </a:rPr>
              <a:t>Presented at Techforum 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THE CHALLENGE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The Hiring </a:t>
            </a:r>
            <a:r>
              <a:rPr sz="3000" b="1">
                <a:solidFill>
                  <a:srgbClr val="22D3EE"/>
                </a:solidFill>
                <a:latin typeface="Segoe UI Semibold"/>
              </a:rPr>
              <a:t>Challenge</a:t>
            </a:r>
          </a:p>
        </p:txBody>
      </p:sp>
      <p:sp>
        <p:nvSpPr>
          <p:cNvPr id="8" name="Rounded Rectangle 7"/>
          <p:cNvSpPr/>
          <p:nvPr/>
        </p:nvSpPr>
        <p:spPr>
          <a:xfrm>
            <a:off x="566928" y="1600200"/>
            <a:ext cx="5486400" cy="658368"/>
          </a:xfrm>
          <a:prstGeom prst="roundRect">
            <a:avLst>
              <a:gd name="adj" fmla="val 6000"/>
            </a:avLst>
          </a:prstGeom>
          <a:ln w="12700">
            <a:solidFill>
              <a:srgbClr val="2B3A63"/>
            </a:solidFill>
          </a:ln>
          <a:solidFill>
            <a:srgbClr val="111A33">
              <a:alpha val="94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719072"/>
            <a:ext cx="420624" cy="420624"/>
          </a:xfrm>
          <a:prstGeom prst="roundRect">
            <a:avLst>
              <a:gd name="adj" fmla="val 28000"/>
            </a:avLst>
          </a:prstGeom>
          <a:ln w="12700">
            <a:solidFill>
              <a:srgbClr val="A855F7"/>
            </a:solidFill>
          </a:ln>
          <a:effectLst/>
          <a:gradFill>
            <a:gsLst>
              <a:gs pos="0">
                <a:srgbClr val="FB7185">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F4F8FF"/>
                </a:solidFill>
                <a:latin typeface="Segoe UI"/>
              </a:rPr>
              <a:t>⏳</a:t>
            </a:r>
          </a:p>
        </p:txBody>
      </p:sp>
      <p:sp>
        <p:nvSpPr>
          <p:cNvPr id="10" name="TextBox 9"/>
          <p:cNvSpPr txBox="1"/>
          <p:nvPr/>
        </p:nvSpPr>
        <p:spPr>
          <a:xfrm>
            <a:off x="1298448" y="1600200"/>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4F8FF"/>
                </a:solidFill>
                <a:latin typeface="Segoe UI"/>
              </a:rPr>
              <a:t>Lengthy hiring cycles</a:t>
            </a:r>
          </a:p>
        </p:txBody>
      </p:sp>
      <p:sp>
        <p:nvSpPr>
          <p:cNvPr id="11" name="Rounded Rectangle 10"/>
          <p:cNvSpPr/>
          <p:nvPr/>
        </p:nvSpPr>
        <p:spPr>
          <a:xfrm>
            <a:off x="566928" y="2368296"/>
            <a:ext cx="5486400" cy="658368"/>
          </a:xfrm>
          <a:prstGeom prst="roundRect">
            <a:avLst>
              <a:gd name="adj" fmla="val 6000"/>
            </a:avLst>
          </a:prstGeom>
          <a:ln w="12700">
            <a:solidFill>
              <a:srgbClr val="2B3A63"/>
            </a:solidFill>
          </a:ln>
          <a:solidFill>
            <a:srgbClr val="111A33">
              <a:alpha val="94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3232" y="2487168"/>
            <a:ext cx="420624" cy="420624"/>
          </a:xfrm>
          <a:prstGeom prst="roundRect">
            <a:avLst>
              <a:gd name="adj" fmla="val 28000"/>
            </a:avLst>
          </a:prstGeom>
          <a:ln w="12700">
            <a:solidFill>
              <a:srgbClr val="A855F7"/>
            </a:solidFill>
          </a:ln>
          <a:effectLst/>
          <a:gradFill>
            <a:gsLst>
              <a:gs pos="0">
                <a:srgbClr val="FB7185">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F4F8FF"/>
                </a:solidFill>
                <a:latin typeface="Segoe UI"/>
              </a:rPr>
              <a:t>⚖️</a:t>
            </a:r>
          </a:p>
        </p:txBody>
      </p:sp>
      <p:sp>
        <p:nvSpPr>
          <p:cNvPr id="13" name="TextBox 12"/>
          <p:cNvSpPr txBox="1"/>
          <p:nvPr/>
        </p:nvSpPr>
        <p:spPr>
          <a:xfrm>
            <a:off x="1298448" y="2368296"/>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4F8FF"/>
                </a:solidFill>
                <a:latin typeface="Segoe UI"/>
              </a:rPr>
              <a:t>Inconsistent candidate evaluation</a:t>
            </a:r>
          </a:p>
        </p:txBody>
      </p:sp>
      <p:sp>
        <p:nvSpPr>
          <p:cNvPr id="14" name="Rounded Rectangle 13"/>
          <p:cNvSpPr/>
          <p:nvPr/>
        </p:nvSpPr>
        <p:spPr>
          <a:xfrm>
            <a:off x="566928" y="3136391"/>
            <a:ext cx="5486400" cy="658368"/>
          </a:xfrm>
          <a:prstGeom prst="roundRect">
            <a:avLst>
              <a:gd name="adj" fmla="val 6000"/>
            </a:avLst>
          </a:prstGeom>
          <a:ln w="12700">
            <a:solidFill>
              <a:srgbClr val="2B3A63"/>
            </a:solidFill>
          </a:ln>
          <a:solidFill>
            <a:srgbClr val="111A33">
              <a:alpha val="94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3255263"/>
            <a:ext cx="420624" cy="420624"/>
          </a:xfrm>
          <a:prstGeom prst="roundRect">
            <a:avLst>
              <a:gd name="adj" fmla="val 28000"/>
            </a:avLst>
          </a:prstGeom>
          <a:ln w="12700">
            <a:solidFill>
              <a:srgbClr val="A855F7"/>
            </a:solidFill>
          </a:ln>
          <a:effectLst/>
          <a:gradFill>
            <a:gsLst>
              <a:gs pos="0">
                <a:srgbClr val="FB7185">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F4F8FF"/>
                </a:solidFill>
                <a:latin typeface="Segoe UI"/>
              </a:rPr>
              <a:t>🧱</a:t>
            </a:r>
          </a:p>
        </p:txBody>
      </p:sp>
      <p:sp>
        <p:nvSpPr>
          <p:cNvPr id="16" name="TextBox 15"/>
          <p:cNvSpPr txBox="1"/>
          <p:nvPr/>
        </p:nvSpPr>
        <p:spPr>
          <a:xfrm>
            <a:off x="1298448" y="3136391"/>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4F8FF"/>
                </a:solidFill>
                <a:latin typeface="Segoe UI"/>
              </a:rPr>
              <a:t>Manual screening bottlenecks</a:t>
            </a:r>
          </a:p>
        </p:txBody>
      </p:sp>
      <p:sp>
        <p:nvSpPr>
          <p:cNvPr id="17" name="Rounded Rectangle 16"/>
          <p:cNvSpPr/>
          <p:nvPr/>
        </p:nvSpPr>
        <p:spPr>
          <a:xfrm>
            <a:off x="566928" y="3904487"/>
            <a:ext cx="5486400" cy="658368"/>
          </a:xfrm>
          <a:prstGeom prst="roundRect">
            <a:avLst>
              <a:gd name="adj" fmla="val 6000"/>
            </a:avLst>
          </a:prstGeom>
          <a:ln w="12700">
            <a:solidFill>
              <a:srgbClr val="2B3A63"/>
            </a:solidFill>
          </a:ln>
          <a:solidFill>
            <a:srgbClr val="111A33">
              <a:alpha val="94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4023359"/>
            <a:ext cx="420624" cy="420624"/>
          </a:xfrm>
          <a:prstGeom prst="roundRect">
            <a:avLst>
              <a:gd name="adj" fmla="val 28000"/>
            </a:avLst>
          </a:prstGeom>
          <a:ln w="12700">
            <a:solidFill>
              <a:srgbClr val="A855F7"/>
            </a:solidFill>
          </a:ln>
          <a:effectLst/>
          <a:gradFill>
            <a:gsLst>
              <a:gs pos="0">
                <a:srgbClr val="FB7185">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F4F8FF"/>
                </a:solidFill>
                <a:latin typeface="Segoe UI"/>
              </a:rPr>
              <a:t>🙈</a:t>
            </a:r>
          </a:p>
        </p:txBody>
      </p:sp>
      <p:sp>
        <p:nvSpPr>
          <p:cNvPr id="19" name="TextBox 18"/>
          <p:cNvSpPr txBox="1"/>
          <p:nvPr/>
        </p:nvSpPr>
        <p:spPr>
          <a:xfrm>
            <a:off x="1298448" y="3904487"/>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4F8FF"/>
                </a:solidFill>
                <a:latin typeface="Segoe UI"/>
              </a:rPr>
              <a:t>Interviewer bias &amp; subjectivity</a:t>
            </a:r>
          </a:p>
        </p:txBody>
      </p:sp>
      <p:sp>
        <p:nvSpPr>
          <p:cNvPr id="20" name="Rounded Rectangle 19"/>
          <p:cNvSpPr/>
          <p:nvPr/>
        </p:nvSpPr>
        <p:spPr>
          <a:xfrm>
            <a:off x="566928" y="4672583"/>
            <a:ext cx="5486400" cy="658368"/>
          </a:xfrm>
          <a:prstGeom prst="roundRect">
            <a:avLst>
              <a:gd name="adj" fmla="val 6000"/>
            </a:avLst>
          </a:prstGeom>
          <a:ln w="12700">
            <a:solidFill>
              <a:srgbClr val="2B3A63"/>
            </a:solidFill>
          </a:ln>
          <a:solidFill>
            <a:srgbClr val="111A33">
              <a:alpha val="94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4791455"/>
            <a:ext cx="420624" cy="420624"/>
          </a:xfrm>
          <a:prstGeom prst="roundRect">
            <a:avLst>
              <a:gd name="adj" fmla="val 28000"/>
            </a:avLst>
          </a:prstGeom>
          <a:ln w="12700">
            <a:solidFill>
              <a:srgbClr val="A855F7"/>
            </a:solidFill>
          </a:ln>
          <a:effectLst/>
          <a:gradFill>
            <a:gsLst>
              <a:gs pos="0">
                <a:srgbClr val="FB7185">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196" b="0">
                <a:solidFill>
                  <a:srgbClr val="F4F8FF"/>
                </a:solidFill>
                <a:latin typeface="Segoe UI"/>
              </a:rPr>
              <a:t>📉</a:t>
            </a:r>
          </a:p>
        </p:txBody>
      </p:sp>
      <p:sp>
        <p:nvSpPr>
          <p:cNvPr id="22" name="TextBox 21"/>
          <p:cNvSpPr txBox="1"/>
          <p:nvPr/>
        </p:nvSpPr>
        <p:spPr>
          <a:xfrm>
            <a:off x="1298448" y="4672583"/>
            <a:ext cx="4572000" cy="658368"/>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4F8FF"/>
                </a:solidFill>
                <a:latin typeface="Segoe UI"/>
              </a:rPr>
              <a:t>Skill gaps identified too late</a:t>
            </a:r>
          </a:p>
        </p:txBody>
      </p:sp>
      <p:sp>
        <p:nvSpPr>
          <p:cNvPr id="23" name="Rounded Rectangle 22"/>
          <p:cNvSpPr/>
          <p:nvPr/>
        </p:nvSpPr>
        <p:spPr>
          <a:xfrm>
            <a:off x="6400800" y="1600200"/>
            <a:ext cx="5212080" cy="1234440"/>
          </a:xfrm>
          <a:prstGeom prst="roundRect">
            <a:avLst>
              <a:gd name="adj" fmla="val 6000"/>
            </a:avLst>
          </a:prstGeom>
          <a:ln w="12700">
            <a:solidFill>
              <a:srgbClr val="3A4D80"/>
            </a:solidFill>
          </a:ln>
          <a:solidFill>
            <a:srgbClr val="16203D">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1737360"/>
            <a:ext cx="2377440" cy="1005840"/>
          </a:xfrm>
          <a:prstGeom prst="rect">
            <a:avLst/>
          </a:prstGeom>
          <a:noFill/>
        </p:spPr>
        <p:txBody>
          <a:bodyPr wrap="square" anchor="t" lIns="0" rIns="0" tIns="0" bIns="0">
            <a:spAutoFit/>
          </a:bodyPr>
          <a:lstStyle/>
          <a:p>
            <a:pPr algn="l">
              <a:lnSpc>
                <a:spcPct val="100000"/>
              </a:lnSpc>
              <a:spcBef>
                <a:spcPts val="0"/>
              </a:spcBef>
              <a:spcAft>
                <a:spcPts val="200"/>
              </a:spcAft>
            </a:pPr>
            <a:r>
              <a:rPr sz="4000" b="1">
                <a:solidFill>
                  <a:srgbClr val="22D3EE"/>
                </a:solidFill>
                <a:latin typeface="Segoe UI Semibold"/>
              </a:rPr>
              <a:t>70%</a:t>
            </a:r>
          </a:p>
          <a:p>
            <a:pPr algn="l">
              <a:lnSpc>
                <a:spcPct val="100000"/>
              </a:lnSpc>
              <a:spcBef>
                <a:spcPts val="0"/>
              </a:spcBef>
              <a:spcAft>
                <a:spcPts val="200"/>
              </a:spcAft>
            </a:pPr>
            <a:r>
              <a:rPr sz="1150" b="0">
                <a:solidFill>
                  <a:srgbClr val="A9B6D6"/>
                </a:solidFill>
                <a:latin typeface="Segoe UI"/>
              </a:rPr>
              <a:t>recruiter time spent on screening</a:t>
            </a:r>
          </a:p>
        </p:txBody>
      </p:sp>
      <p:sp>
        <p:nvSpPr>
          <p:cNvPr id="25" name="Rectangle 24"/>
          <p:cNvSpPr/>
          <p:nvPr/>
        </p:nvSpPr>
        <p:spPr>
          <a:xfrm>
            <a:off x="9006840" y="1828800"/>
            <a:ext cx="12801" cy="777240"/>
          </a:xfrm>
          <a:prstGeom prst="rect">
            <a:avLst/>
          </a:prstGeom>
          <a:ln>
            <a:noFill/>
          </a:ln>
          <a:effectLst/>
          <a:solidFill>
            <a:srgbClr val="3A4D8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1737360"/>
            <a:ext cx="2286000" cy="1005840"/>
          </a:xfrm>
          <a:prstGeom prst="rect">
            <a:avLst/>
          </a:prstGeom>
          <a:noFill/>
        </p:spPr>
        <p:txBody>
          <a:bodyPr wrap="square" anchor="t" lIns="0" rIns="0" tIns="0" bIns="0">
            <a:spAutoFit/>
          </a:bodyPr>
          <a:lstStyle/>
          <a:p>
            <a:pPr algn="l">
              <a:lnSpc>
                <a:spcPct val="100000"/>
              </a:lnSpc>
              <a:spcBef>
                <a:spcPts val="0"/>
              </a:spcBef>
              <a:spcAft>
                <a:spcPts val="200"/>
              </a:spcAft>
            </a:pPr>
            <a:r>
              <a:rPr sz="4000" b="1">
                <a:solidFill>
                  <a:srgbClr val="8B5CF6"/>
                </a:solidFill>
                <a:latin typeface="Segoe UI Semibold"/>
              </a:rPr>
              <a:t>40%</a:t>
            </a:r>
          </a:p>
          <a:p>
            <a:pPr algn="l">
              <a:lnSpc>
                <a:spcPct val="100000"/>
              </a:lnSpc>
              <a:spcBef>
                <a:spcPts val="0"/>
              </a:spcBef>
              <a:spcAft>
                <a:spcPts val="200"/>
              </a:spcAft>
            </a:pPr>
            <a:r>
              <a:rPr sz="1150" b="0">
                <a:solidFill>
                  <a:srgbClr val="A9B6D6"/>
                </a:solidFill>
                <a:latin typeface="Segoe UI"/>
              </a:rPr>
              <a:t>interview effort wasted on unqualified candidates</a:t>
            </a:r>
          </a:p>
        </p:txBody>
      </p:sp>
      <p:sp>
        <p:nvSpPr>
          <p:cNvPr id="27" name="Rounded Rectangle 26"/>
          <p:cNvSpPr/>
          <p:nvPr/>
        </p:nvSpPr>
        <p:spPr>
          <a:xfrm>
            <a:off x="6400800" y="3063240"/>
            <a:ext cx="5212080" cy="2907792"/>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3063240"/>
            <a:ext cx="5212080" cy="64008"/>
          </a:xfrm>
          <a:prstGeom prst="rect">
            <a:avLst/>
          </a:prstGeom>
          <a:ln>
            <a:noFill/>
          </a:ln>
          <a:effectLst/>
          <a:gradFill>
            <a:gsLst>
              <a:gs pos="0">
                <a:srgbClr val="22D3EE"/>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246120"/>
            <a:ext cx="47548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a:solidFill>
                  <a:srgbClr val="F4F8FF"/>
                </a:solidFill>
                <a:latin typeface="Segoe UI"/>
              </a:rPr>
              <a:t>⚠  Business Impact</a:t>
            </a:r>
          </a:p>
        </p:txBody>
      </p:sp>
      <p:sp>
        <p:nvSpPr>
          <p:cNvPr id="30" name="TextBox 29"/>
          <p:cNvSpPr txBox="1"/>
          <p:nvPr/>
        </p:nvSpPr>
        <p:spPr>
          <a:xfrm>
            <a:off x="6720840" y="370332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FBBF24"/>
                </a:solidFill>
                <a:latin typeface="Segoe UI"/>
              </a:rPr>
              <a:t>💸   </a:t>
            </a:r>
            <a:r>
              <a:rPr sz="1350" b="0">
                <a:solidFill>
                  <a:srgbClr val="F4F8FF"/>
                </a:solidFill>
                <a:latin typeface="Segoe UI"/>
              </a:rPr>
              <a:t>Increased hiring costs</a:t>
            </a:r>
          </a:p>
        </p:txBody>
      </p:sp>
      <p:sp>
        <p:nvSpPr>
          <p:cNvPr id="31" name="TextBox 30"/>
          <p:cNvSpPr txBox="1"/>
          <p:nvPr/>
        </p:nvSpPr>
        <p:spPr>
          <a:xfrm>
            <a:off x="6720840" y="4251959"/>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FBBF24"/>
                </a:solidFill>
                <a:latin typeface="Segoe UI"/>
              </a:rPr>
              <a:t>🐌   </a:t>
            </a:r>
            <a:r>
              <a:rPr sz="1350" b="0">
                <a:solidFill>
                  <a:srgbClr val="F4F8FF"/>
                </a:solidFill>
                <a:latin typeface="Segoe UI"/>
              </a:rPr>
              <a:t>Delayed project delivery</a:t>
            </a:r>
          </a:p>
        </p:txBody>
      </p:sp>
      <p:sp>
        <p:nvSpPr>
          <p:cNvPr id="32" name="TextBox 31"/>
          <p:cNvSpPr txBox="1"/>
          <p:nvPr/>
        </p:nvSpPr>
        <p:spPr>
          <a:xfrm>
            <a:off x="6720840" y="480060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FBBF24"/>
                </a:solidFill>
                <a:latin typeface="Segoe UI"/>
              </a:rPr>
              <a:t>📊   </a:t>
            </a:r>
            <a:r>
              <a:rPr sz="1350" b="0">
                <a:solidFill>
                  <a:srgbClr val="F4F8FF"/>
                </a:solidFill>
                <a:latin typeface="Segoe UI"/>
              </a:rPr>
              <a:t>Lower workforce quality</a:t>
            </a:r>
          </a:p>
        </p:txBody>
      </p:sp>
      <p:sp>
        <p:nvSpPr>
          <p:cNvPr id="33" name="TextBox 32"/>
          <p:cNvSpPr txBox="1"/>
          <p:nvPr/>
        </p:nvSpPr>
        <p:spPr>
          <a:xfrm>
            <a:off x="6720840" y="5349240"/>
            <a:ext cx="4663440" cy="457200"/>
          </a:xfrm>
          <a:prstGeom prst="rect">
            <a:avLst/>
          </a:prstGeom>
          <a:noFill/>
        </p:spPr>
        <p:txBody>
          <a:bodyPr wrap="square" anchor="ctr" lIns="0" rIns="0" tIns="0" bIns="0">
            <a:spAutoFit/>
          </a:bodyPr>
          <a:lstStyle/>
          <a:p>
            <a:pPr algn="l">
              <a:lnSpc>
                <a:spcPct val="100000"/>
              </a:lnSpc>
              <a:spcBef>
                <a:spcPts val="0"/>
              </a:spcBef>
              <a:spcAft>
                <a:spcPts val="400"/>
              </a:spcAft>
            </a:pPr>
            <a:r>
              <a:rPr sz="1400" b="0">
                <a:solidFill>
                  <a:srgbClr val="FBBF24"/>
                </a:solidFill>
                <a:latin typeface="Segoe UI"/>
              </a:rPr>
              <a:t>🚪   </a:t>
            </a:r>
            <a:r>
              <a:rPr sz="1350" b="0">
                <a:solidFill>
                  <a:srgbClr val="F4F8FF"/>
                </a:solidFill>
                <a:latin typeface="Segoe UI"/>
              </a:rPr>
              <a:t>Higher attrition risk</a:t>
            </a:r>
          </a:p>
        </p:txBody>
      </p:sp>
      <p:sp>
        <p:nvSpPr>
          <p:cNvPr id="34" name="Rectangle 33"/>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36" name="TextBox 35"/>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AS-IS  STATE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Current Hiring </a:t>
            </a:r>
            <a:r>
              <a:rPr sz="3000" b="1">
                <a:solidFill>
                  <a:srgbClr val="22D3EE"/>
                </a:solidFill>
                <a:latin typeface="Segoe UI Semibold"/>
              </a:rPr>
              <a:t>Landscape</a:t>
            </a:r>
          </a:p>
        </p:txBody>
      </p:sp>
      <p:sp>
        <p:nvSpPr>
          <p:cNvPr id="8" name="TextBox 7"/>
          <p:cNvSpPr txBox="1"/>
          <p:nvPr/>
        </p:nvSpPr>
        <p:spPr>
          <a:xfrm>
            <a:off x="566928" y="1554480"/>
            <a:ext cx="329184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8B5CF6"/>
                </a:solidFill>
                <a:latin typeface="Segoe UI"/>
              </a:rPr>
              <a:t>KEY CHALLENGES</a:t>
            </a:r>
          </a:p>
        </p:txBody>
      </p:sp>
      <p:sp>
        <p:nvSpPr>
          <p:cNvPr id="9" name="Rounded Rectangle 8"/>
          <p:cNvSpPr/>
          <p:nvPr/>
        </p:nvSpPr>
        <p:spPr>
          <a:xfrm>
            <a:off x="566928" y="1920240"/>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Manual effort</a:t>
            </a:r>
          </a:p>
        </p:txBody>
      </p:sp>
      <p:sp>
        <p:nvSpPr>
          <p:cNvPr id="11" name="Rounded Rectangle 10"/>
          <p:cNvSpPr/>
          <p:nvPr/>
        </p:nvSpPr>
        <p:spPr>
          <a:xfrm>
            <a:off x="566928" y="2596896"/>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96896"/>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Fragmented tools</a:t>
            </a:r>
          </a:p>
        </p:txBody>
      </p:sp>
      <p:sp>
        <p:nvSpPr>
          <p:cNvPr id="13" name="Rounded Rectangle 12"/>
          <p:cNvSpPr/>
          <p:nvPr/>
        </p:nvSpPr>
        <p:spPr>
          <a:xfrm>
            <a:off x="566928" y="3273552"/>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73552"/>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Limited scalability</a:t>
            </a:r>
          </a:p>
        </p:txBody>
      </p:sp>
      <p:sp>
        <p:nvSpPr>
          <p:cNvPr id="15" name="Rounded Rectangle 14"/>
          <p:cNvSpPr/>
          <p:nvPr/>
        </p:nvSpPr>
        <p:spPr>
          <a:xfrm>
            <a:off x="566928" y="3950208"/>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50208"/>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Slow decision-making</a:t>
            </a:r>
          </a:p>
        </p:txBody>
      </p:sp>
      <p:sp>
        <p:nvSpPr>
          <p:cNvPr id="17" name="Rounded Rectangle 16"/>
          <p:cNvSpPr/>
          <p:nvPr/>
        </p:nvSpPr>
        <p:spPr>
          <a:xfrm>
            <a:off x="566928" y="4626864"/>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626864"/>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High operational costs</a:t>
            </a:r>
          </a:p>
        </p:txBody>
      </p:sp>
      <p:sp>
        <p:nvSpPr>
          <p:cNvPr id="19" name="Rounded Rectangle 18"/>
          <p:cNvSpPr/>
          <p:nvPr/>
        </p:nvSpPr>
        <p:spPr>
          <a:xfrm>
            <a:off x="566928" y="5303520"/>
            <a:ext cx="3246120" cy="548640"/>
          </a:xfrm>
          <a:prstGeom prst="roundRect">
            <a:avLst>
              <a:gd name="adj" fmla="val 6000"/>
            </a:avLst>
          </a:prstGeom>
          <a:ln w="12700">
            <a:solidFill>
              <a:srgbClr val="2B3A63"/>
            </a:solidFill>
          </a:ln>
          <a:solidFill>
            <a:srgbClr val="111A33">
              <a:alpha val="93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03520"/>
            <a:ext cx="3017520" cy="548640"/>
          </a:xfrm>
          <a:prstGeom prst="rect">
            <a:avLst/>
          </a:prstGeom>
          <a:noFill/>
        </p:spPr>
        <p:txBody>
          <a:bodyPr wrap="square" anchor="ctr" lIns="0" rIns="0" tIns="0" bIns="0">
            <a:spAutoFit/>
          </a:bodyPr>
          <a:lstStyle/>
          <a:p>
            <a:pPr algn="l">
              <a:lnSpc>
                <a:spcPct val="100000"/>
              </a:lnSpc>
              <a:spcBef>
                <a:spcPts val="0"/>
              </a:spcBef>
              <a:spcAft>
                <a:spcPts val="400"/>
              </a:spcAft>
            </a:pPr>
            <a:r>
              <a:rPr sz="1400" b="1">
                <a:solidFill>
                  <a:srgbClr val="FB7185"/>
                </a:solidFill>
                <a:latin typeface="Segoe UI"/>
              </a:rPr>
              <a:t>✕   </a:t>
            </a:r>
            <a:r>
              <a:rPr sz="1250" b="1">
                <a:solidFill>
                  <a:srgbClr val="F4F8FF"/>
                </a:solidFill>
                <a:latin typeface="Segoe UI"/>
              </a:rPr>
              <a:t>No continuous learning</a:t>
            </a:r>
          </a:p>
        </p:txBody>
      </p:sp>
      <p:sp>
        <p:nvSpPr>
          <p:cNvPr id="21" name="TextBox 20"/>
          <p:cNvSpPr txBox="1"/>
          <p:nvPr/>
        </p:nvSpPr>
        <p:spPr>
          <a:xfrm>
            <a:off x="4160520" y="1554480"/>
            <a:ext cx="3657600" cy="274320"/>
          </a:xfrm>
          <a:prstGeom prst="rect">
            <a:avLst/>
          </a:prstGeom>
          <a:noFill/>
        </p:spPr>
        <p:txBody>
          <a:bodyPr wrap="square" anchor="t" lIns="0" rIns="0" tIns="0" bIns="0">
            <a:spAutoFit/>
          </a:bodyPr>
          <a:lstStyle/>
          <a:p>
            <a:pPr algn="ctr">
              <a:lnSpc>
                <a:spcPct val="100000"/>
              </a:lnSpc>
              <a:spcBef>
                <a:spcPts val="0"/>
              </a:spcBef>
              <a:spcAft>
                <a:spcPts val="400"/>
              </a:spcAft>
            </a:pPr>
            <a:r>
              <a:rPr sz="1200" b="1">
                <a:solidFill>
                  <a:srgbClr val="22D3EE"/>
                </a:solidFill>
                <a:latin typeface="Segoe UI"/>
              </a:rPr>
              <a:t>THE CURRENT PROCESS</a:t>
            </a:r>
          </a:p>
        </p:txBody>
      </p:sp>
      <p:sp>
        <p:nvSpPr>
          <p:cNvPr id="22" name="Rounded Rectangle 21"/>
          <p:cNvSpPr/>
          <p:nvPr/>
        </p:nvSpPr>
        <p:spPr>
          <a:xfrm>
            <a:off x="4526280" y="1938528"/>
            <a:ext cx="2926080" cy="603504"/>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1938528"/>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2D3EE"/>
                </a:solidFill>
                <a:latin typeface="Segoe UI"/>
              </a:rPr>
              <a:t>📥   </a:t>
            </a:r>
            <a:r>
              <a:rPr sz="1400" b="1">
                <a:solidFill>
                  <a:srgbClr val="F4F8FF"/>
                </a:solidFill>
                <a:latin typeface="Segoe UI"/>
              </a:rPr>
              <a:t>Applications</a:t>
            </a:r>
          </a:p>
        </p:txBody>
      </p:sp>
      <p:sp>
        <p:nvSpPr>
          <p:cNvPr id="24" name="Down Arrow 23"/>
          <p:cNvSpPr/>
          <p:nvPr/>
        </p:nvSpPr>
        <p:spPr>
          <a:xfrm>
            <a:off x="5824728" y="2578608"/>
            <a:ext cx="329184" cy="256032"/>
          </a:xfrm>
          <a:prstGeom prst="downArrow">
            <a:avLst/>
          </a:prstGeom>
          <a:ln>
            <a:noFill/>
          </a:ln>
          <a:effectLst/>
          <a:solidFill>
            <a:srgbClr val="22D3EE">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526280" y="2834640"/>
            <a:ext cx="2926080" cy="603504"/>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2834640"/>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2D3EE"/>
                </a:solidFill>
                <a:latin typeface="Segoe UI"/>
              </a:rPr>
              <a:t>📄   </a:t>
            </a:r>
            <a:r>
              <a:rPr sz="1400" b="1">
                <a:solidFill>
                  <a:srgbClr val="F4F8FF"/>
                </a:solidFill>
                <a:latin typeface="Segoe UI"/>
              </a:rPr>
              <a:t>Resume Screening</a:t>
            </a:r>
          </a:p>
        </p:txBody>
      </p:sp>
      <p:sp>
        <p:nvSpPr>
          <p:cNvPr id="27" name="Down Arrow 26"/>
          <p:cNvSpPr/>
          <p:nvPr/>
        </p:nvSpPr>
        <p:spPr>
          <a:xfrm>
            <a:off x="5824728" y="3474720"/>
            <a:ext cx="329184" cy="256032"/>
          </a:xfrm>
          <a:prstGeom prst="downArrow">
            <a:avLst/>
          </a:prstGeom>
          <a:ln>
            <a:noFill/>
          </a:ln>
          <a:effectLst/>
          <a:solidFill>
            <a:srgbClr val="6366F1">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26280" y="3730752"/>
            <a:ext cx="2926080" cy="603504"/>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9160" y="3730752"/>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2D3EE"/>
                </a:solidFill>
                <a:latin typeface="Segoe UI"/>
              </a:rPr>
              <a:t>📝   </a:t>
            </a:r>
            <a:r>
              <a:rPr sz="1400" b="1">
                <a:solidFill>
                  <a:srgbClr val="F4F8FF"/>
                </a:solidFill>
                <a:latin typeface="Segoe UI"/>
              </a:rPr>
              <a:t>Assessment</a:t>
            </a:r>
          </a:p>
        </p:txBody>
      </p:sp>
      <p:sp>
        <p:nvSpPr>
          <p:cNvPr id="30" name="Down Arrow 29"/>
          <p:cNvSpPr/>
          <p:nvPr/>
        </p:nvSpPr>
        <p:spPr>
          <a:xfrm>
            <a:off x="5824728" y="4370832"/>
            <a:ext cx="329184" cy="256032"/>
          </a:xfrm>
          <a:prstGeom prst="downArrow">
            <a:avLst/>
          </a:prstGeom>
          <a:ln>
            <a:noFill/>
          </a:ln>
          <a:effectLst/>
          <a:solidFill>
            <a:srgbClr val="8B5CF6">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26280" y="4626864"/>
            <a:ext cx="2926080" cy="603504"/>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9160" y="4626864"/>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2D3EE"/>
                </a:solidFill>
                <a:latin typeface="Segoe UI"/>
              </a:rPr>
              <a:t>🗣️   </a:t>
            </a:r>
            <a:r>
              <a:rPr sz="1400" b="1">
                <a:solidFill>
                  <a:srgbClr val="F4F8FF"/>
                </a:solidFill>
                <a:latin typeface="Segoe UI"/>
              </a:rPr>
              <a:t>Interview</a:t>
            </a:r>
          </a:p>
        </p:txBody>
      </p:sp>
      <p:sp>
        <p:nvSpPr>
          <p:cNvPr id="33" name="Down Arrow 32"/>
          <p:cNvSpPr/>
          <p:nvPr/>
        </p:nvSpPr>
        <p:spPr>
          <a:xfrm>
            <a:off x="5824728" y="5266944"/>
            <a:ext cx="329184" cy="256032"/>
          </a:xfrm>
          <a:prstGeom prst="downArrow">
            <a:avLst/>
          </a:prstGeom>
          <a:ln>
            <a:noFill/>
          </a:ln>
          <a:effectLst/>
          <a:solidFill>
            <a:srgbClr val="A855F7">
              <a:alpha val="8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26280" y="5522976"/>
            <a:ext cx="2926080" cy="603504"/>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9160" y="5522976"/>
            <a:ext cx="2560320" cy="603504"/>
          </a:xfrm>
          <a:prstGeom prst="rect">
            <a:avLst/>
          </a:prstGeom>
          <a:noFill/>
        </p:spPr>
        <p:txBody>
          <a:bodyPr wrap="square" anchor="ctr" lIns="0" rIns="0" tIns="0" bIns="0">
            <a:spAutoFit/>
          </a:bodyPr>
          <a:lstStyle/>
          <a:p>
            <a:pPr algn="l">
              <a:lnSpc>
                <a:spcPct val="100000"/>
              </a:lnSpc>
              <a:spcBef>
                <a:spcPts val="0"/>
              </a:spcBef>
              <a:spcAft>
                <a:spcPts val="400"/>
              </a:spcAft>
            </a:pPr>
            <a:r>
              <a:rPr sz="1600" b="0">
                <a:solidFill>
                  <a:srgbClr val="22D3EE"/>
                </a:solidFill>
                <a:latin typeface="Segoe UI"/>
              </a:rPr>
              <a:t>✅   </a:t>
            </a:r>
            <a:r>
              <a:rPr sz="1400" b="1">
                <a:solidFill>
                  <a:srgbClr val="F4F8FF"/>
                </a:solidFill>
                <a:latin typeface="Segoe UI"/>
              </a:rPr>
              <a:t>Selection</a:t>
            </a:r>
          </a:p>
        </p:txBody>
      </p:sp>
      <p:sp>
        <p:nvSpPr>
          <p:cNvPr id="36" name="Rounded Rectangle 35"/>
          <p:cNvSpPr/>
          <p:nvPr/>
        </p:nvSpPr>
        <p:spPr>
          <a:xfrm>
            <a:off x="8001000" y="1783080"/>
            <a:ext cx="3611880" cy="4160520"/>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01000" y="1783080"/>
            <a:ext cx="3611880" cy="64008"/>
          </a:xfrm>
          <a:prstGeom prst="rect">
            <a:avLst/>
          </a:prstGeom>
          <a:ln>
            <a:noFill/>
          </a:ln>
          <a:effectLst/>
          <a:gradFill>
            <a:gsLst>
              <a:gs pos="0">
                <a:srgbClr val="6366F1"/>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1975104"/>
            <a:ext cx="3200400" cy="320040"/>
          </a:xfrm>
          <a:prstGeom prst="rect">
            <a:avLst/>
          </a:prstGeom>
          <a:noFill/>
        </p:spPr>
        <p:txBody>
          <a:bodyPr wrap="square" anchor="t" lIns="0" rIns="0" tIns="0" bIns="0">
            <a:spAutoFit/>
          </a:bodyPr>
          <a:lstStyle/>
          <a:p>
            <a:pPr algn="l">
              <a:lnSpc>
                <a:spcPct val="100000"/>
              </a:lnSpc>
              <a:spcBef>
                <a:spcPts val="0"/>
              </a:spcBef>
              <a:spcAft>
                <a:spcPts val="400"/>
              </a:spcAft>
            </a:pPr>
            <a:r>
              <a:rPr sz="1450" b="1">
                <a:solidFill>
                  <a:srgbClr val="F4F8FF"/>
                </a:solidFill>
                <a:latin typeface="Segoe UI"/>
              </a:rPr>
              <a:t>Where It Breaks Down</a:t>
            </a:r>
          </a:p>
        </p:txBody>
      </p:sp>
      <p:sp>
        <p:nvSpPr>
          <p:cNvPr id="39" name="Rounded Rectangle 38"/>
          <p:cNvSpPr/>
          <p:nvPr/>
        </p:nvSpPr>
        <p:spPr>
          <a:xfrm>
            <a:off x="8229600" y="2432304"/>
            <a:ext cx="457200" cy="457200"/>
          </a:xfrm>
          <a:prstGeom prst="roundRect">
            <a:avLst>
              <a:gd name="adj" fmla="val 28000"/>
            </a:avLst>
          </a:prstGeom>
          <a:ln w="12700">
            <a:solidFill>
              <a:srgbClr val="A855F7"/>
            </a:solidFill>
          </a:ln>
          <a:effectLst/>
          <a:gradFill>
            <a:gsLst>
              <a:gs pos="0">
                <a:srgbClr val="6366F1">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0" name="TextBox 39"/>
          <p:cNvSpPr txBox="1"/>
          <p:nvPr/>
        </p:nvSpPr>
        <p:spPr>
          <a:xfrm>
            <a:off x="8823960" y="2395728"/>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Productivity Gaps</a:t>
            </a:r>
          </a:p>
          <a:p>
            <a:pPr algn="l">
              <a:lnSpc>
                <a:spcPct val="100000"/>
              </a:lnSpc>
              <a:spcBef>
                <a:spcPts val="0"/>
              </a:spcBef>
              <a:spcAft>
                <a:spcPts val="100"/>
              </a:spcAft>
            </a:pPr>
            <a:r>
              <a:rPr sz="1050" b="0">
                <a:solidFill>
                  <a:srgbClr val="A9B6D6"/>
                </a:solidFill>
                <a:latin typeface="Segoe UI"/>
              </a:rPr>
              <a:t>Repetitive manual work</a:t>
            </a:r>
          </a:p>
        </p:txBody>
      </p:sp>
      <p:sp>
        <p:nvSpPr>
          <p:cNvPr id="41" name="Rounded Rectangle 40"/>
          <p:cNvSpPr/>
          <p:nvPr/>
        </p:nvSpPr>
        <p:spPr>
          <a:xfrm>
            <a:off x="8229600" y="3282696"/>
            <a:ext cx="457200" cy="457200"/>
          </a:xfrm>
          <a:prstGeom prst="roundRect">
            <a:avLst>
              <a:gd name="adj" fmla="val 28000"/>
            </a:avLst>
          </a:prstGeom>
          <a:ln w="12700">
            <a:solidFill>
              <a:srgbClr val="A855F7"/>
            </a:solidFill>
          </a:ln>
          <a:effectLst/>
          <a:gradFill>
            <a:gsLst>
              <a:gs pos="0">
                <a:srgbClr val="6366F1">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2" name="TextBox 41"/>
          <p:cNvSpPr txBox="1"/>
          <p:nvPr/>
        </p:nvSpPr>
        <p:spPr>
          <a:xfrm>
            <a:off x="8823960" y="3246120"/>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Cost Issues</a:t>
            </a:r>
          </a:p>
          <a:p>
            <a:pPr algn="l">
              <a:lnSpc>
                <a:spcPct val="100000"/>
              </a:lnSpc>
              <a:spcBef>
                <a:spcPts val="0"/>
              </a:spcBef>
              <a:spcAft>
                <a:spcPts val="100"/>
              </a:spcAft>
            </a:pPr>
            <a:r>
              <a:rPr sz="1050" b="0">
                <a:solidFill>
                  <a:srgbClr val="A9B6D6"/>
                </a:solidFill>
                <a:latin typeface="Segoe UI"/>
              </a:rPr>
              <a:t>High operational overhead</a:t>
            </a:r>
          </a:p>
        </p:txBody>
      </p:sp>
      <p:sp>
        <p:nvSpPr>
          <p:cNvPr id="43" name="Rounded Rectangle 42"/>
          <p:cNvSpPr/>
          <p:nvPr/>
        </p:nvSpPr>
        <p:spPr>
          <a:xfrm>
            <a:off x="8229600" y="4133088"/>
            <a:ext cx="457200" cy="457200"/>
          </a:xfrm>
          <a:prstGeom prst="roundRect">
            <a:avLst>
              <a:gd name="adj" fmla="val 28000"/>
            </a:avLst>
          </a:prstGeom>
          <a:ln w="12700">
            <a:solidFill>
              <a:srgbClr val="A855F7"/>
            </a:solidFill>
          </a:ln>
          <a:effectLst/>
          <a:gradFill>
            <a:gsLst>
              <a:gs pos="0">
                <a:srgbClr val="6366F1">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4" name="TextBox 43"/>
          <p:cNvSpPr txBox="1"/>
          <p:nvPr/>
        </p:nvSpPr>
        <p:spPr>
          <a:xfrm>
            <a:off x="8823960" y="4096512"/>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Scalability Issues</a:t>
            </a:r>
          </a:p>
          <a:p>
            <a:pPr algn="l">
              <a:lnSpc>
                <a:spcPct val="100000"/>
              </a:lnSpc>
              <a:spcBef>
                <a:spcPts val="0"/>
              </a:spcBef>
              <a:spcAft>
                <a:spcPts val="100"/>
              </a:spcAft>
            </a:pPr>
            <a:r>
              <a:rPr sz="1050" b="0">
                <a:solidFill>
                  <a:srgbClr val="A9B6D6"/>
                </a:solidFill>
                <a:latin typeface="Segoe UI"/>
              </a:rPr>
              <a:t>Can't handle hiring spikes</a:t>
            </a:r>
          </a:p>
        </p:txBody>
      </p:sp>
      <p:sp>
        <p:nvSpPr>
          <p:cNvPr id="45" name="Rounded Rectangle 44"/>
          <p:cNvSpPr/>
          <p:nvPr/>
        </p:nvSpPr>
        <p:spPr>
          <a:xfrm>
            <a:off x="8229600" y="4983480"/>
            <a:ext cx="457200" cy="457200"/>
          </a:xfrm>
          <a:prstGeom prst="roundRect">
            <a:avLst>
              <a:gd name="adj" fmla="val 28000"/>
            </a:avLst>
          </a:prstGeom>
          <a:ln w="12700">
            <a:solidFill>
              <a:srgbClr val="A855F7"/>
            </a:solidFill>
          </a:ln>
          <a:effectLst/>
          <a:gradFill>
            <a:gsLst>
              <a:gs pos="0">
                <a:srgbClr val="6366F1">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6" name="TextBox 45"/>
          <p:cNvSpPr txBox="1"/>
          <p:nvPr/>
        </p:nvSpPr>
        <p:spPr>
          <a:xfrm>
            <a:off x="8823960" y="4946904"/>
            <a:ext cx="2697480" cy="82296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Operational Complexity</a:t>
            </a:r>
          </a:p>
          <a:p>
            <a:pPr algn="l">
              <a:lnSpc>
                <a:spcPct val="100000"/>
              </a:lnSpc>
              <a:spcBef>
                <a:spcPts val="0"/>
              </a:spcBef>
              <a:spcAft>
                <a:spcPts val="100"/>
              </a:spcAft>
            </a:pPr>
            <a:r>
              <a:rPr sz="1050" b="0">
                <a:solidFill>
                  <a:srgbClr val="A9B6D6"/>
                </a:solidFill>
                <a:latin typeface="Segoe UI"/>
              </a:rPr>
              <a:t>Disconnected, siloed tools</a:t>
            </a:r>
          </a:p>
        </p:txBody>
      </p:sp>
      <p:sp>
        <p:nvSpPr>
          <p:cNvPr id="47" name="Rectangle 46"/>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49" name="TextBox 48"/>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THE SOLUTION</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Introducing </a:t>
            </a:r>
            <a:r>
              <a:rPr sz="3000" b="1">
                <a:solidFill>
                  <a:srgbClr val="22D3EE"/>
                </a:solidFill>
                <a:latin typeface="Segoe UI Semibold"/>
              </a:rPr>
              <a:t>Qore.AI</a:t>
            </a:r>
          </a:p>
        </p:txBody>
      </p:sp>
      <p:sp>
        <p:nvSpPr>
          <p:cNvPr id="8" name="TextBox 7"/>
          <p:cNvSpPr txBox="1"/>
          <p:nvPr/>
        </p:nvSpPr>
        <p:spPr>
          <a:xfrm>
            <a:off x="749808" y="1298448"/>
            <a:ext cx="10515600" cy="320040"/>
          </a:xfrm>
          <a:prstGeom prst="rect">
            <a:avLst/>
          </a:prstGeom>
          <a:noFill/>
        </p:spPr>
        <p:txBody>
          <a:bodyPr wrap="square" anchor="t" lIns="0" rIns="0" tIns="0" bIns="0">
            <a:spAutoFit/>
          </a:bodyPr>
          <a:lstStyle/>
          <a:p>
            <a:pPr algn="l">
              <a:lnSpc>
                <a:spcPct val="100000"/>
              </a:lnSpc>
              <a:spcBef>
                <a:spcPts val="0"/>
              </a:spcBef>
              <a:spcAft>
                <a:spcPts val="400"/>
              </a:spcAft>
            </a:pPr>
            <a:r>
              <a:rPr sz="1350" b="0">
                <a:solidFill>
                  <a:srgbClr val="A9B6D6"/>
                </a:solidFill>
                <a:latin typeface="Segoe UI"/>
              </a:rPr>
              <a:t>One AI brain orchestrating the entire hiring &amp; growth lifecycle.</a:t>
            </a:r>
          </a:p>
        </p:txBody>
      </p:sp>
      <p:sp>
        <p:nvSpPr>
          <p:cNvPr id="9" name="Oval 8"/>
          <p:cNvSpPr/>
          <p:nvPr/>
        </p:nvSpPr>
        <p:spPr>
          <a:xfrm>
            <a:off x="5181447" y="2880360"/>
            <a:ext cx="1828800" cy="1828800"/>
          </a:xfrm>
          <a:prstGeom prst="ellipse">
            <a:avLst/>
          </a:prstGeom>
          <a:ln w="15875">
            <a:solidFill>
              <a:srgbClr val="F4F8FF"/>
            </a:solidFill>
          </a:ln>
          <a:gradFill>
            <a:gsLst>
              <a:gs pos="0">
                <a:srgbClr val="22D3EE"/>
              </a:gs>
              <a:gs pos="100000">
                <a:srgbClr val="A855F7"/>
              </a:gs>
            </a:gsLst>
            <a:lin ang="2700000" scaled="1"/>
          </a:gradFill>
          <a:effectLst>
            <a:outerShdw blurRad="355600" dist="127000" dir="5400000" rotWithShape="0">
              <a:srgbClr val="05060F">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100"/>
              </a:spcAft>
            </a:pPr>
            <a:r>
              <a:rPr sz="3000" b="0">
                <a:solidFill>
                  <a:srgbClr val="F4F8FF"/>
                </a:solidFill>
                <a:latin typeface="Segoe UI"/>
              </a:rPr>
              <a:t>🧠</a:t>
            </a:r>
          </a:p>
          <a:p>
            <a:pPr algn="ctr">
              <a:lnSpc>
                <a:spcPct val="100000"/>
              </a:lnSpc>
              <a:spcBef>
                <a:spcPts val="0"/>
              </a:spcBef>
              <a:spcAft>
                <a:spcPts val="100"/>
              </a:spcAft>
            </a:pPr>
            <a:r>
              <a:rPr sz="1600" b="1">
                <a:solidFill>
                  <a:srgbClr val="F4F8FF"/>
                </a:solidFill>
                <a:latin typeface="Segoe UI Semibold"/>
              </a:rPr>
              <a:t>Qore.AI</a:t>
            </a:r>
          </a:p>
          <a:p>
            <a:pPr algn="ctr">
              <a:lnSpc>
                <a:spcPct val="100000"/>
              </a:lnSpc>
              <a:spcBef>
                <a:spcPts val="0"/>
              </a:spcBef>
              <a:spcAft>
                <a:spcPts val="100"/>
              </a:spcAft>
            </a:pPr>
            <a:r>
              <a:rPr sz="1050" b="0">
                <a:solidFill>
                  <a:srgbClr val="EAF2FF"/>
                </a:solidFill>
                <a:latin typeface="Segoe UI"/>
              </a:rPr>
              <a:t>AI Core</a:t>
            </a:r>
          </a:p>
        </p:txBody>
      </p:sp>
      <p:cxnSp>
        <p:nvCxnSpPr>
          <p:cNvPr id="10" name="Connector 9"/>
          <p:cNvCxnSpPr/>
          <p:nvPr/>
        </p:nvCxnSpPr>
        <p:spPr>
          <a:xfrm flipV="1">
            <a:off x="6095847" y="1645920"/>
            <a:ext cx="0" cy="2148840"/>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81447" y="1225296"/>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AI Resume</a:t>
            </a:r>
          </a:p>
          <a:p>
            <a:pPr algn="ctr">
              <a:lnSpc>
                <a:spcPct val="95000"/>
              </a:lnSpc>
              <a:spcBef>
                <a:spcPts val="0"/>
              </a:spcBef>
              <a:spcAft>
                <a:spcPts val="0"/>
              </a:spcAft>
            </a:pPr>
            <a:r>
              <a:rPr sz="1050" b="1">
                <a:solidFill>
                  <a:srgbClr val="F4F8FF"/>
                </a:solidFill>
                <a:latin typeface="Segoe UI"/>
              </a:rPr>
              <a:t>Intelligence</a:t>
            </a:r>
          </a:p>
        </p:txBody>
      </p:sp>
      <p:cxnSp>
        <p:nvCxnSpPr>
          <p:cNvPr id="12" name="Connector 11"/>
          <p:cNvCxnSpPr/>
          <p:nvPr/>
        </p:nvCxnSpPr>
        <p:spPr>
          <a:xfrm flipV="1">
            <a:off x="6095847" y="2454980"/>
            <a:ext cx="3109844" cy="1339780"/>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91291" y="2034356"/>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Autonomous Skill</a:t>
            </a:r>
          </a:p>
          <a:p>
            <a:pPr algn="ctr">
              <a:lnSpc>
                <a:spcPct val="95000"/>
              </a:lnSpc>
              <a:spcBef>
                <a:spcPts val="0"/>
              </a:spcBef>
              <a:spcAft>
                <a:spcPts val="0"/>
              </a:spcAft>
            </a:pPr>
            <a:r>
              <a:rPr sz="1050" b="1">
                <a:solidFill>
                  <a:srgbClr val="F4F8FF"/>
                </a:solidFill>
                <a:latin typeface="Segoe UI"/>
              </a:rPr>
              <a:t>Assessment</a:t>
            </a:r>
          </a:p>
        </p:txBody>
      </p:sp>
      <p:cxnSp>
        <p:nvCxnSpPr>
          <p:cNvPr id="14" name="Connector 13"/>
          <p:cNvCxnSpPr/>
          <p:nvPr/>
        </p:nvCxnSpPr>
        <p:spPr>
          <a:xfrm>
            <a:off x="6095847" y="3794760"/>
            <a:ext cx="3877912" cy="478161"/>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059359" y="3852297"/>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Real-Time</a:t>
            </a:r>
          </a:p>
          <a:p>
            <a:pPr algn="ctr">
              <a:lnSpc>
                <a:spcPct val="95000"/>
              </a:lnSpc>
              <a:spcBef>
                <a:spcPts val="0"/>
              </a:spcBef>
              <a:spcAft>
                <a:spcPts val="0"/>
              </a:spcAft>
            </a:pPr>
            <a:r>
              <a:rPr sz="1050" b="1">
                <a:solidFill>
                  <a:srgbClr val="F4F8FF"/>
                </a:solidFill>
                <a:latin typeface="Segoe UI"/>
              </a:rPr>
              <a:t>Proctoring</a:t>
            </a:r>
          </a:p>
        </p:txBody>
      </p:sp>
      <p:cxnSp>
        <p:nvCxnSpPr>
          <p:cNvPr id="16" name="Connector 15"/>
          <p:cNvCxnSpPr/>
          <p:nvPr/>
        </p:nvCxnSpPr>
        <p:spPr>
          <a:xfrm>
            <a:off x="6095847" y="3794760"/>
            <a:ext cx="1725833" cy="1936037"/>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07280" y="5310173"/>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AI Interview</a:t>
            </a:r>
          </a:p>
          <a:p>
            <a:pPr algn="ctr">
              <a:lnSpc>
                <a:spcPct val="95000"/>
              </a:lnSpc>
              <a:spcBef>
                <a:spcPts val="0"/>
              </a:spcBef>
              <a:spcAft>
                <a:spcPts val="0"/>
              </a:spcAft>
            </a:pPr>
            <a:r>
              <a:rPr sz="1050" b="1">
                <a:solidFill>
                  <a:srgbClr val="F4F8FF"/>
                </a:solidFill>
                <a:latin typeface="Segoe UI"/>
              </a:rPr>
              <a:t>Orchestration</a:t>
            </a:r>
          </a:p>
        </p:txBody>
      </p:sp>
      <p:cxnSp>
        <p:nvCxnSpPr>
          <p:cNvPr id="18" name="Connector 17"/>
          <p:cNvCxnSpPr/>
          <p:nvPr/>
        </p:nvCxnSpPr>
        <p:spPr>
          <a:xfrm flipH="1">
            <a:off x="4370014" y="3794760"/>
            <a:ext cx="1725833" cy="1936037"/>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455614" y="5310173"/>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Candidate</a:t>
            </a:r>
          </a:p>
          <a:p>
            <a:pPr algn="ctr">
              <a:lnSpc>
                <a:spcPct val="95000"/>
              </a:lnSpc>
              <a:spcBef>
                <a:spcPts val="0"/>
              </a:spcBef>
              <a:spcAft>
                <a:spcPts val="0"/>
              </a:spcAft>
            </a:pPr>
            <a:r>
              <a:rPr sz="1050" b="1">
                <a:solidFill>
                  <a:srgbClr val="F4F8FF"/>
                </a:solidFill>
                <a:latin typeface="Segoe UI"/>
              </a:rPr>
              <a:t>Ranking Engine</a:t>
            </a:r>
          </a:p>
        </p:txBody>
      </p:sp>
      <p:cxnSp>
        <p:nvCxnSpPr>
          <p:cNvPr id="20" name="Connector 19"/>
          <p:cNvCxnSpPr/>
          <p:nvPr/>
        </p:nvCxnSpPr>
        <p:spPr>
          <a:xfrm flipH="1">
            <a:off x="2217935" y="3794760"/>
            <a:ext cx="3877912" cy="478161"/>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303535" y="3852297"/>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Personalized</a:t>
            </a:r>
          </a:p>
          <a:p>
            <a:pPr algn="ctr">
              <a:lnSpc>
                <a:spcPct val="95000"/>
              </a:lnSpc>
              <a:spcBef>
                <a:spcPts val="0"/>
              </a:spcBef>
              <a:spcAft>
                <a:spcPts val="0"/>
              </a:spcAft>
            </a:pPr>
            <a:r>
              <a:rPr sz="1050" b="1">
                <a:solidFill>
                  <a:srgbClr val="F4F8FF"/>
                </a:solidFill>
                <a:latin typeface="Segoe UI"/>
              </a:rPr>
              <a:t>Learning Paths</a:t>
            </a:r>
          </a:p>
        </p:txBody>
      </p:sp>
      <p:cxnSp>
        <p:nvCxnSpPr>
          <p:cNvPr id="22" name="Connector 21"/>
          <p:cNvCxnSpPr/>
          <p:nvPr/>
        </p:nvCxnSpPr>
        <p:spPr>
          <a:xfrm flipH="1" flipV="1">
            <a:off x="2986003" y="2454980"/>
            <a:ext cx="3109844" cy="1339780"/>
          </a:xfrm>
          <a:prstGeom prst="line">
            <a:avLst/>
          </a:prstGeom>
          <a:ln w="15875">
            <a:solidFill>
              <a:srgbClr val="3A4D80"/>
            </a:solidFill>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071603" y="2034356"/>
            <a:ext cx="1828800" cy="841248"/>
          </a:xfrm>
          <a:prstGeom prst="roundRect">
            <a:avLst>
              <a:gd name="adj" fmla="val 16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95000"/>
              </a:lnSpc>
              <a:spcBef>
                <a:spcPts val="0"/>
              </a:spcBef>
              <a:spcAft>
                <a:spcPts val="0"/>
              </a:spcAft>
            </a:pPr>
            <a:r>
              <a:rPr sz="1500" b="0">
                <a:solidFill>
                  <a:srgbClr val="22D3EE"/>
                </a:solidFill>
                <a:latin typeface="Segoe UI"/>
              </a:rPr>
              <a:t>📈  </a:t>
            </a:r>
            <a:r>
              <a:rPr sz="1050" b="1">
                <a:solidFill>
                  <a:srgbClr val="F4F8FF"/>
                </a:solidFill>
                <a:latin typeface="Segoe UI"/>
              </a:rPr>
              <a:t>Analytics &amp;</a:t>
            </a:r>
          </a:p>
          <a:p>
            <a:pPr algn="ctr">
              <a:lnSpc>
                <a:spcPct val="95000"/>
              </a:lnSpc>
              <a:spcBef>
                <a:spcPts val="0"/>
              </a:spcBef>
              <a:spcAft>
                <a:spcPts val="0"/>
              </a:spcAft>
            </a:pPr>
            <a:r>
              <a:rPr sz="1050" b="1">
                <a:solidFill>
                  <a:srgbClr val="F4F8FF"/>
                </a:solidFill>
                <a:latin typeface="Segoe UI"/>
              </a:rPr>
              <a:t>Insights</a:t>
            </a:r>
          </a:p>
        </p:txBody>
      </p:sp>
      <p:sp>
        <p:nvSpPr>
          <p:cNvPr id="24" name="Rounded Rectangle 23"/>
          <p:cNvSpPr/>
          <p:nvPr/>
        </p:nvSpPr>
        <p:spPr>
          <a:xfrm>
            <a:off x="508863" y="5897880"/>
            <a:ext cx="2670048" cy="457200"/>
          </a:xfrm>
          <a:prstGeom prst="roundRect">
            <a:avLst>
              <a:gd name="adj" fmla="val 40000"/>
            </a:avLst>
          </a:prstGeom>
          <a:ln w="12700">
            <a:solidFill>
              <a:srgbClr val="2B3A63"/>
            </a:solidFill>
          </a:ln>
          <a:effectLst/>
          <a:solidFill>
            <a:srgbClr val="111A33">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34D399"/>
                </a:solidFill>
                <a:latin typeface="Segoe UI"/>
              </a:rPr>
              <a:t>✓  </a:t>
            </a:r>
            <a:r>
              <a:rPr sz="1100" b="1">
                <a:solidFill>
                  <a:srgbClr val="F4F8FF"/>
                </a:solidFill>
                <a:latin typeface="Segoe UI"/>
              </a:rPr>
              <a:t>End-to-end hiring orchestration</a:t>
            </a:r>
          </a:p>
        </p:txBody>
      </p:sp>
      <p:sp>
        <p:nvSpPr>
          <p:cNvPr id="25" name="Rounded Rectangle 24"/>
          <p:cNvSpPr/>
          <p:nvPr/>
        </p:nvSpPr>
        <p:spPr>
          <a:xfrm>
            <a:off x="3343503" y="5897880"/>
            <a:ext cx="2670048" cy="457200"/>
          </a:xfrm>
          <a:prstGeom prst="roundRect">
            <a:avLst>
              <a:gd name="adj" fmla="val 40000"/>
            </a:avLst>
          </a:prstGeom>
          <a:ln w="12700">
            <a:solidFill>
              <a:srgbClr val="2B3A63"/>
            </a:solidFill>
          </a:ln>
          <a:effectLst/>
          <a:solidFill>
            <a:srgbClr val="111A33">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34D399"/>
                </a:solidFill>
                <a:latin typeface="Segoe UI"/>
              </a:rPr>
              <a:t>✓  </a:t>
            </a:r>
            <a:r>
              <a:rPr sz="1100" b="1">
                <a:solidFill>
                  <a:srgbClr val="F4F8FF"/>
                </a:solidFill>
                <a:latin typeface="Segoe UI"/>
              </a:rPr>
              <a:t>Autonomous assessments</a:t>
            </a:r>
          </a:p>
        </p:txBody>
      </p:sp>
      <p:sp>
        <p:nvSpPr>
          <p:cNvPr id="26" name="Rounded Rectangle 25"/>
          <p:cNvSpPr/>
          <p:nvPr/>
        </p:nvSpPr>
        <p:spPr>
          <a:xfrm>
            <a:off x="6178143" y="5897880"/>
            <a:ext cx="2670048" cy="457200"/>
          </a:xfrm>
          <a:prstGeom prst="roundRect">
            <a:avLst>
              <a:gd name="adj" fmla="val 40000"/>
            </a:avLst>
          </a:prstGeom>
          <a:ln w="12700">
            <a:solidFill>
              <a:srgbClr val="2B3A63"/>
            </a:solidFill>
          </a:ln>
          <a:effectLst/>
          <a:solidFill>
            <a:srgbClr val="111A33">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34D399"/>
                </a:solidFill>
                <a:latin typeface="Segoe UI"/>
              </a:rPr>
              <a:t>✓  </a:t>
            </a:r>
            <a:r>
              <a:rPr sz="1100" b="1">
                <a:solidFill>
                  <a:srgbClr val="F4F8FF"/>
                </a:solidFill>
                <a:latin typeface="Segoe UI"/>
              </a:rPr>
              <a:t>AI-powered decision support</a:t>
            </a:r>
          </a:p>
        </p:txBody>
      </p:sp>
      <p:sp>
        <p:nvSpPr>
          <p:cNvPr id="27" name="Rounded Rectangle 26"/>
          <p:cNvSpPr/>
          <p:nvPr/>
        </p:nvSpPr>
        <p:spPr>
          <a:xfrm>
            <a:off x="9012783" y="5897880"/>
            <a:ext cx="2670048" cy="457200"/>
          </a:xfrm>
          <a:prstGeom prst="roundRect">
            <a:avLst>
              <a:gd name="adj" fmla="val 40000"/>
            </a:avLst>
          </a:prstGeom>
          <a:ln w="12700">
            <a:solidFill>
              <a:srgbClr val="2B3A63"/>
            </a:solidFill>
          </a:ln>
          <a:effectLst/>
          <a:solidFill>
            <a:srgbClr val="111A33">
              <a:alpha val="95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34D399"/>
                </a:solidFill>
                <a:latin typeface="Segoe UI"/>
              </a:rPr>
              <a:t>✓  </a:t>
            </a:r>
            <a:r>
              <a:rPr sz="1100" b="1">
                <a:solidFill>
                  <a:srgbClr val="F4F8FF"/>
                </a:solidFill>
                <a:latin typeface="Segoe UI"/>
              </a:rPr>
              <a:t>Continuous skill development</a:t>
            </a:r>
          </a:p>
        </p:txBody>
      </p:sp>
      <p:sp>
        <p:nvSpPr>
          <p:cNvPr id="28" name="Rectangle 27"/>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30" name="TextBox 29"/>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ARCHITECTURE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End-to-End </a:t>
            </a:r>
            <a:r>
              <a:rPr sz="3000" b="1">
                <a:solidFill>
                  <a:srgbClr val="22D3EE"/>
                </a:solidFill>
                <a:latin typeface="Segoe UI Semibold"/>
              </a:rPr>
              <a:t>Architecture</a:t>
            </a:r>
          </a:p>
        </p:txBody>
      </p:sp>
      <p:sp>
        <p:nvSpPr>
          <p:cNvPr id="8" name="Rounded Rectangle 7"/>
          <p:cNvSpPr/>
          <p:nvPr/>
        </p:nvSpPr>
        <p:spPr>
          <a:xfrm>
            <a:off x="566928" y="1417320"/>
            <a:ext cx="11064240" cy="850392"/>
          </a:xfrm>
          <a:prstGeom prst="roundRect">
            <a:avLst>
              <a:gd name="adj" fmla="val 5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417320"/>
            <a:ext cx="82296" cy="850392"/>
          </a:xfrm>
          <a:prstGeom prst="rect">
            <a:avLst/>
          </a:prstGeom>
          <a:ln>
            <a:noFill/>
          </a:ln>
          <a:effectLst/>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1563624"/>
            <a:ext cx="566928" cy="566928"/>
          </a:xfrm>
          <a:prstGeom prst="roundRect">
            <a:avLst>
              <a:gd name="adj" fmla="val 25000"/>
            </a:avLst>
          </a:prstGeom>
          <a:ln w="12700">
            <a:solidFill>
              <a:srgbClr val="22D3EE"/>
            </a:solidFill>
          </a:ln>
          <a:effectLst/>
          <a:gradFill>
            <a:gsLst>
              <a:gs pos="0">
                <a:srgbClr val="22D3EE">
                  <a:alpha val="28000"/>
                </a:srgbClr>
              </a:gs>
              <a:gs pos="100000">
                <a:srgbClr val="22D3EE">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F4F8FF"/>
                </a:solidFill>
                <a:latin typeface="Segoe UI Semibold"/>
              </a:rPr>
              <a:t>01</a:t>
            </a:r>
          </a:p>
        </p:txBody>
      </p:sp>
      <p:sp>
        <p:nvSpPr>
          <p:cNvPr id="11" name="TextBox 10"/>
          <p:cNvSpPr txBox="1"/>
          <p:nvPr/>
        </p:nvSpPr>
        <p:spPr>
          <a:xfrm>
            <a:off x="1444752" y="1527048"/>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4F8FF"/>
                </a:solidFill>
                <a:latin typeface="Segoe UI"/>
              </a:rPr>
              <a:t>Candidate Channels</a:t>
            </a:r>
          </a:p>
        </p:txBody>
      </p:sp>
      <p:sp>
        <p:nvSpPr>
          <p:cNvPr id="12" name="Rounded Rectangle 11"/>
          <p:cNvSpPr/>
          <p:nvPr/>
        </p:nvSpPr>
        <p:spPr>
          <a:xfrm>
            <a:off x="3813048" y="1659636"/>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Career Portal</a:t>
            </a:r>
          </a:p>
        </p:txBody>
      </p:sp>
      <p:sp>
        <p:nvSpPr>
          <p:cNvPr id="13" name="Rounded Rectangle 12"/>
          <p:cNvSpPr/>
          <p:nvPr/>
        </p:nvSpPr>
        <p:spPr>
          <a:xfrm>
            <a:off x="5758433" y="1659636"/>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LinkedIn</a:t>
            </a:r>
          </a:p>
        </p:txBody>
      </p:sp>
      <p:sp>
        <p:nvSpPr>
          <p:cNvPr id="14" name="Rounded Rectangle 13"/>
          <p:cNvSpPr/>
          <p:nvPr/>
        </p:nvSpPr>
        <p:spPr>
          <a:xfrm>
            <a:off x="7703820" y="1659636"/>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Job Boards</a:t>
            </a:r>
          </a:p>
        </p:txBody>
      </p:sp>
      <p:sp>
        <p:nvSpPr>
          <p:cNvPr id="15" name="Rounded Rectangle 14"/>
          <p:cNvSpPr/>
          <p:nvPr/>
        </p:nvSpPr>
        <p:spPr>
          <a:xfrm>
            <a:off x="9649206" y="1659636"/>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Internal Mobility</a:t>
            </a:r>
          </a:p>
        </p:txBody>
      </p:sp>
      <p:sp>
        <p:nvSpPr>
          <p:cNvPr id="16" name="Down Arrow 15"/>
          <p:cNvSpPr/>
          <p:nvPr/>
        </p:nvSpPr>
        <p:spPr>
          <a:xfrm>
            <a:off x="5967831" y="2249424"/>
            <a:ext cx="256032" cy="169164"/>
          </a:xfrm>
          <a:prstGeom prst="downArrow">
            <a:avLst/>
          </a:prstGeom>
          <a:ln>
            <a:noFill/>
          </a:ln>
          <a:effectLst/>
          <a:solidFill>
            <a:srgbClr val="22D3EE">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2391156"/>
            <a:ext cx="11064240" cy="850392"/>
          </a:xfrm>
          <a:prstGeom prst="roundRect">
            <a:avLst>
              <a:gd name="adj" fmla="val 5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391156"/>
            <a:ext cx="82296" cy="850392"/>
          </a:xfrm>
          <a:prstGeom prst="rect">
            <a:avLst/>
          </a:prstGeom>
          <a:ln>
            <a:noFill/>
          </a:ln>
          <a:effectLst/>
          <a:solidFill>
            <a:srgbClr val="6366F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8096" y="2537460"/>
            <a:ext cx="566928" cy="566928"/>
          </a:xfrm>
          <a:prstGeom prst="roundRect">
            <a:avLst>
              <a:gd name="adj" fmla="val 25000"/>
            </a:avLst>
          </a:prstGeom>
          <a:ln w="12700">
            <a:solidFill>
              <a:srgbClr val="6366F1"/>
            </a:solidFill>
          </a:ln>
          <a:effectLst/>
          <a:gradFill>
            <a:gsLst>
              <a:gs pos="0">
                <a:srgbClr val="6366F1">
                  <a:alpha val="28000"/>
                </a:srgbClr>
              </a:gs>
              <a:gs pos="100000">
                <a:srgbClr val="6366F1">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F4F8FF"/>
                </a:solidFill>
                <a:latin typeface="Segoe UI Semibold"/>
              </a:rPr>
              <a:t>02</a:t>
            </a:r>
          </a:p>
        </p:txBody>
      </p:sp>
      <p:sp>
        <p:nvSpPr>
          <p:cNvPr id="20" name="TextBox 19"/>
          <p:cNvSpPr txBox="1"/>
          <p:nvPr/>
        </p:nvSpPr>
        <p:spPr>
          <a:xfrm>
            <a:off x="1444752" y="2500884"/>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4F8FF"/>
                </a:solidFill>
                <a:latin typeface="Segoe UI"/>
              </a:rPr>
              <a:t>Qore.AI Platform</a:t>
            </a:r>
          </a:p>
        </p:txBody>
      </p:sp>
      <p:sp>
        <p:nvSpPr>
          <p:cNvPr id="21" name="Rounded Rectangle 20"/>
          <p:cNvSpPr/>
          <p:nvPr/>
        </p:nvSpPr>
        <p:spPr>
          <a:xfrm>
            <a:off x="3813048" y="2514600"/>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Resume Parser</a:t>
            </a:r>
          </a:p>
        </p:txBody>
      </p:sp>
      <p:sp>
        <p:nvSpPr>
          <p:cNvPr id="22" name="Rounded Rectangle 21"/>
          <p:cNvSpPr/>
          <p:nvPr/>
        </p:nvSpPr>
        <p:spPr>
          <a:xfrm>
            <a:off x="6406896" y="2514600"/>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Knowledge Graph</a:t>
            </a:r>
          </a:p>
        </p:txBody>
      </p:sp>
      <p:sp>
        <p:nvSpPr>
          <p:cNvPr id="23" name="Rounded Rectangle 22"/>
          <p:cNvSpPr/>
          <p:nvPr/>
        </p:nvSpPr>
        <p:spPr>
          <a:xfrm>
            <a:off x="9000744" y="2514600"/>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Assessment Engine</a:t>
            </a:r>
          </a:p>
        </p:txBody>
      </p:sp>
      <p:sp>
        <p:nvSpPr>
          <p:cNvPr id="24" name="Rounded Rectangle 23"/>
          <p:cNvSpPr/>
          <p:nvPr/>
        </p:nvSpPr>
        <p:spPr>
          <a:xfrm>
            <a:off x="3813048" y="2898648"/>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Proctoring Engine</a:t>
            </a:r>
          </a:p>
        </p:txBody>
      </p:sp>
      <p:sp>
        <p:nvSpPr>
          <p:cNvPr id="25" name="Rounded Rectangle 24"/>
          <p:cNvSpPr/>
          <p:nvPr/>
        </p:nvSpPr>
        <p:spPr>
          <a:xfrm>
            <a:off x="6406896" y="2898648"/>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Interview Intelligence</a:t>
            </a:r>
          </a:p>
        </p:txBody>
      </p:sp>
      <p:sp>
        <p:nvSpPr>
          <p:cNvPr id="26" name="Rounded Rectangle 25"/>
          <p:cNvSpPr/>
          <p:nvPr/>
        </p:nvSpPr>
        <p:spPr>
          <a:xfrm>
            <a:off x="9000744" y="2898648"/>
            <a:ext cx="2465832" cy="292608"/>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Recommendation Engine</a:t>
            </a:r>
          </a:p>
        </p:txBody>
      </p:sp>
      <p:sp>
        <p:nvSpPr>
          <p:cNvPr id="27" name="Down Arrow 26"/>
          <p:cNvSpPr/>
          <p:nvPr/>
        </p:nvSpPr>
        <p:spPr>
          <a:xfrm>
            <a:off x="5967831" y="3223260"/>
            <a:ext cx="256032" cy="169164"/>
          </a:xfrm>
          <a:prstGeom prst="downArrow">
            <a:avLst/>
          </a:prstGeom>
          <a:ln>
            <a:noFill/>
          </a:ln>
          <a:effectLst/>
          <a:solidFill>
            <a:srgbClr val="6366F1">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928" y="3364991"/>
            <a:ext cx="11064240" cy="850392"/>
          </a:xfrm>
          <a:prstGeom prst="roundRect">
            <a:avLst>
              <a:gd name="adj" fmla="val 5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3364991"/>
            <a:ext cx="82296" cy="850392"/>
          </a:xfrm>
          <a:prstGeom prst="rect">
            <a:avLst/>
          </a:prstGeom>
          <a:ln>
            <a:noFill/>
          </a:ln>
          <a:effectLst/>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68096" y="3511296"/>
            <a:ext cx="566928" cy="566928"/>
          </a:xfrm>
          <a:prstGeom prst="roundRect">
            <a:avLst>
              <a:gd name="adj" fmla="val 25000"/>
            </a:avLst>
          </a:prstGeom>
          <a:ln w="12700">
            <a:solidFill>
              <a:srgbClr val="8B5CF6"/>
            </a:solidFill>
          </a:ln>
          <a:effectLst/>
          <a:gradFill>
            <a:gsLst>
              <a:gs pos="0">
                <a:srgbClr val="8B5CF6">
                  <a:alpha val="28000"/>
                </a:srgbClr>
              </a:gs>
              <a:gs pos="100000">
                <a:srgbClr val="8B5CF6">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F4F8FF"/>
                </a:solidFill>
                <a:latin typeface="Segoe UI Semibold"/>
              </a:rPr>
              <a:t>03</a:t>
            </a:r>
          </a:p>
        </p:txBody>
      </p:sp>
      <p:sp>
        <p:nvSpPr>
          <p:cNvPr id="31" name="TextBox 30"/>
          <p:cNvSpPr txBox="1"/>
          <p:nvPr/>
        </p:nvSpPr>
        <p:spPr>
          <a:xfrm>
            <a:off x="1444752" y="3474720"/>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4F8FF"/>
                </a:solidFill>
                <a:latin typeface="Segoe UI"/>
              </a:rPr>
              <a:t>GenAI Layer</a:t>
            </a:r>
          </a:p>
        </p:txBody>
      </p:sp>
      <p:sp>
        <p:nvSpPr>
          <p:cNvPr id="32" name="Rounded Rectangle 31"/>
          <p:cNvSpPr/>
          <p:nvPr/>
        </p:nvSpPr>
        <p:spPr>
          <a:xfrm>
            <a:off x="3813048" y="3607308"/>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LLM Services</a:t>
            </a:r>
          </a:p>
        </p:txBody>
      </p:sp>
      <p:sp>
        <p:nvSpPr>
          <p:cNvPr id="33" name="Rounded Rectangle 32"/>
          <p:cNvSpPr/>
          <p:nvPr/>
        </p:nvSpPr>
        <p:spPr>
          <a:xfrm>
            <a:off x="5758433" y="3607308"/>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Prompt Orchestration</a:t>
            </a:r>
          </a:p>
        </p:txBody>
      </p:sp>
      <p:sp>
        <p:nvSpPr>
          <p:cNvPr id="34" name="Rounded Rectangle 33"/>
          <p:cNvSpPr/>
          <p:nvPr/>
        </p:nvSpPr>
        <p:spPr>
          <a:xfrm>
            <a:off x="7703820" y="3607308"/>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RAG Engine</a:t>
            </a:r>
          </a:p>
        </p:txBody>
      </p:sp>
      <p:sp>
        <p:nvSpPr>
          <p:cNvPr id="35" name="Rounded Rectangle 34"/>
          <p:cNvSpPr/>
          <p:nvPr/>
        </p:nvSpPr>
        <p:spPr>
          <a:xfrm>
            <a:off x="9649206" y="3607308"/>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Skill Mapping Engine</a:t>
            </a:r>
          </a:p>
        </p:txBody>
      </p:sp>
      <p:sp>
        <p:nvSpPr>
          <p:cNvPr id="36" name="Down Arrow 35"/>
          <p:cNvSpPr/>
          <p:nvPr/>
        </p:nvSpPr>
        <p:spPr>
          <a:xfrm>
            <a:off x="5967831" y="4197096"/>
            <a:ext cx="256032" cy="169164"/>
          </a:xfrm>
          <a:prstGeom prst="downArrow">
            <a:avLst/>
          </a:prstGeom>
          <a:ln>
            <a:noFill/>
          </a:ln>
          <a:effectLst/>
          <a:solidFill>
            <a:srgbClr val="8B5CF6">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66928" y="4338828"/>
            <a:ext cx="11064240" cy="850392"/>
          </a:xfrm>
          <a:prstGeom prst="roundRect">
            <a:avLst>
              <a:gd name="adj" fmla="val 5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338828"/>
            <a:ext cx="82296" cy="850392"/>
          </a:xfrm>
          <a:prstGeom prst="rect">
            <a:avLst/>
          </a:prstGeom>
          <a:ln>
            <a:noFill/>
          </a:ln>
          <a:effectLst/>
          <a:solidFill>
            <a:srgbClr val="A855F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68096" y="4485132"/>
            <a:ext cx="566928" cy="566928"/>
          </a:xfrm>
          <a:prstGeom prst="roundRect">
            <a:avLst>
              <a:gd name="adj" fmla="val 25000"/>
            </a:avLst>
          </a:prstGeom>
          <a:ln w="12700">
            <a:solidFill>
              <a:srgbClr val="A855F7"/>
            </a:solidFill>
          </a:ln>
          <a:effectLst/>
          <a:gradFill>
            <a:gsLst>
              <a:gs pos="0">
                <a:srgbClr val="A855F7">
                  <a:alpha val="28000"/>
                </a:srgbClr>
              </a:gs>
              <a:gs pos="100000">
                <a:srgbClr val="A855F7">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F4F8FF"/>
                </a:solidFill>
                <a:latin typeface="Segoe UI Semibold"/>
              </a:rPr>
              <a:t>04</a:t>
            </a:r>
          </a:p>
        </p:txBody>
      </p:sp>
      <p:sp>
        <p:nvSpPr>
          <p:cNvPr id="40" name="TextBox 39"/>
          <p:cNvSpPr txBox="1"/>
          <p:nvPr/>
        </p:nvSpPr>
        <p:spPr>
          <a:xfrm>
            <a:off x="1444752" y="4448556"/>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4F8FF"/>
                </a:solidFill>
                <a:latin typeface="Segoe UI"/>
              </a:rPr>
              <a:t>Enterprise Systems</a:t>
            </a:r>
          </a:p>
        </p:txBody>
      </p:sp>
      <p:sp>
        <p:nvSpPr>
          <p:cNvPr id="41" name="Rounded Rectangle 40"/>
          <p:cNvSpPr/>
          <p:nvPr/>
        </p:nvSpPr>
        <p:spPr>
          <a:xfrm>
            <a:off x="3813048" y="4581144"/>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HRMS</a:t>
            </a:r>
          </a:p>
        </p:txBody>
      </p:sp>
      <p:sp>
        <p:nvSpPr>
          <p:cNvPr id="42" name="Rounded Rectangle 41"/>
          <p:cNvSpPr/>
          <p:nvPr/>
        </p:nvSpPr>
        <p:spPr>
          <a:xfrm>
            <a:off x="5758433" y="4581144"/>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ATS</a:t>
            </a:r>
          </a:p>
        </p:txBody>
      </p:sp>
      <p:sp>
        <p:nvSpPr>
          <p:cNvPr id="43" name="Rounded Rectangle 42"/>
          <p:cNvSpPr/>
          <p:nvPr/>
        </p:nvSpPr>
        <p:spPr>
          <a:xfrm>
            <a:off x="7703820" y="4581144"/>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LMS</a:t>
            </a:r>
          </a:p>
        </p:txBody>
      </p:sp>
      <p:sp>
        <p:nvSpPr>
          <p:cNvPr id="44" name="Rounded Rectangle 43"/>
          <p:cNvSpPr/>
          <p:nvPr/>
        </p:nvSpPr>
        <p:spPr>
          <a:xfrm>
            <a:off x="9649206" y="4581144"/>
            <a:ext cx="1817369"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Analytics Platform</a:t>
            </a:r>
          </a:p>
        </p:txBody>
      </p:sp>
      <p:sp>
        <p:nvSpPr>
          <p:cNvPr id="45" name="Down Arrow 44"/>
          <p:cNvSpPr/>
          <p:nvPr/>
        </p:nvSpPr>
        <p:spPr>
          <a:xfrm>
            <a:off x="5967831" y="5170932"/>
            <a:ext cx="256032" cy="169164"/>
          </a:xfrm>
          <a:prstGeom prst="downArrow">
            <a:avLst/>
          </a:prstGeom>
          <a:ln>
            <a:noFill/>
          </a:ln>
          <a:effectLst/>
          <a:solidFill>
            <a:srgbClr val="A855F7">
              <a:alpha val="9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66928" y="5312664"/>
            <a:ext cx="11064240" cy="850392"/>
          </a:xfrm>
          <a:prstGeom prst="roundRect">
            <a:avLst>
              <a:gd name="adj" fmla="val 5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928" y="5312664"/>
            <a:ext cx="82296" cy="850392"/>
          </a:xfrm>
          <a:prstGeom prst="rect">
            <a:avLst/>
          </a:prstGeom>
          <a:ln>
            <a:noFill/>
          </a:ln>
          <a:effectLst/>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768096" y="5458968"/>
            <a:ext cx="566928" cy="566928"/>
          </a:xfrm>
          <a:prstGeom prst="roundRect">
            <a:avLst>
              <a:gd name="adj" fmla="val 25000"/>
            </a:avLst>
          </a:prstGeom>
          <a:ln w="12700">
            <a:solidFill>
              <a:srgbClr val="22D3EE"/>
            </a:solidFill>
          </a:ln>
          <a:effectLst/>
          <a:gradFill>
            <a:gsLst>
              <a:gs pos="0">
                <a:srgbClr val="22D3EE">
                  <a:alpha val="28000"/>
                </a:srgbClr>
              </a:gs>
              <a:gs pos="100000">
                <a:srgbClr val="22D3EE">
                  <a:alpha val="1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700" b="1">
                <a:solidFill>
                  <a:srgbClr val="F4F8FF"/>
                </a:solidFill>
                <a:latin typeface="Segoe UI Semibold"/>
              </a:rPr>
              <a:t>05</a:t>
            </a:r>
          </a:p>
        </p:txBody>
      </p:sp>
      <p:sp>
        <p:nvSpPr>
          <p:cNvPr id="49" name="TextBox 48"/>
          <p:cNvSpPr txBox="1"/>
          <p:nvPr/>
        </p:nvSpPr>
        <p:spPr>
          <a:xfrm>
            <a:off x="1444752" y="5422392"/>
            <a:ext cx="2331720" cy="667512"/>
          </a:xfrm>
          <a:prstGeom prst="rect">
            <a:avLst/>
          </a:prstGeom>
          <a:noFill/>
        </p:spPr>
        <p:txBody>
          <a:bodyPr wrap="square" anchor="ctr" lIns="0" rIns="0" tIns="0" bIns="0">
            <a:spAutoFit/>
          </a:bodyPr>
          <a:lstStyle/>
          <a:p>
            <a:pPr algn="l">
              <a:lnSpc>
                <a:spcPct val="100000"/>
              </a:lnSpc>
              <a:spcBef>
                <a:spcPts val="0"/>
              </a:spcBef>
              <a:spcAft>
                <a:spcPts val="400"/>
              </a:spcAft>
            </a:pPr>
            <a:r>
              <a:rPr sz="1350" b="1">
                <a:solidFill>
                  <a:srgbClr val="F4F8FF"/>
                </a:solidFill>
                <a:latin typeface="Segoe UI"/>
              </a:rPr>
              <a:t>Dashboards &amp; Insights</a:t>
            </a:r>
          </a:p>
        </p:txBody>
      </p:sp>
      <p:sp>
        <p:nvSpPr>
          <p:cNvPr id="50" name="Rounded Rectangle 49"/>
          <p:cNvSpPr/>
          <p:nvPr/>
        </p:nvSpPr>
        <p:spPr>
          <a:xfrm>
            <a:off x="3813048" y="5554979"/>
            <a:ext cx="2465832"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Recruiter Dashboard</a:t>
            </a:r>
          </a:p>
        </p:txBody>
      </p:sp>
      <p:sp>
        <p:nvSpPr>
          <p:cNvPr id="51" name="Rounded Rectangle 50"/>
          <p:cNvSpPr/>
          <p:nvPr/>
        </p:nvSpPr>
        <p:spPr>
          <a:xfrm>
            <a:off x="6406896" y="5554979"/>
            <a:ext cx="2465832"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Leadership Dashboard</a:t>
            </a:r>
          </a:p>
        </p:txBody>
      </p:sp>
      <p:sp>
        <p:nvSpPr>
          <p:cNvPr id="52" name="Rounded Rectangle 51"/>
          <p:cNvSpPr/>
          <p:nvPr/>
        </p:nvSpPr>
        <p:spPr>
          <a:xfrm>
            <a:off x="9000744" y="5554979"/>
            <a:ext cx="2465832" cy="365760"/>
          </a:xfrm>
          <a:prstGeom prst="roundRect">
            <a:avLst>
              <a:gd name="adj" fmla="val 45000"/>
            </a:avLst>
          </a:prstGeom>
          <a:ln w="12700">
            <a:solidFill>
              <a:srgbClr val="3A4D80"/>
            </a:solidFill>
          </a:ln>
          <a:effectLst/>
          <a:solidFill>
            <a:srgbClr val="16203D">
              <a:alpha val="96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980" b="1">
                <a:solidFill>
                  <a:srgbClr val="F4F8FF"/>
                </a:solidFill>
                <a:latin typeface="Segoe UI"/>
              </a:rPr>
              <a:t>Candidate Portal</a:t>
            </a:r>
          </a:p>
        </p:txBody>
      </p:sp>
      <p:sp>
        <p:nvSpPr>
          <p:cNvPr id="53" name="Rectangle 52"/>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55" name="TextBox 54"/>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GENAI  CAPABILITIES</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AI at the </a:t>
            </a:r>
            <a:r>
              <a:rPr sz="3000" b="1">
                <a:solidFill>
                  <a:srgbClr val="22D3EE"/>
                </a:solidFill>
                <a:latin typeface="Segoe UI Semibold"/>
              </a:rPr>
              <a:t>Core</a:t>
            </a:r>
          </a:p>
        </p:txBody>
      </p:sp>
      <p:sp>
        <p:nvSpPr>
          <p:cNvPr id="8" name="Oval 7"/>
          <p:cNvSpPr/>
          <p:nvPr/>
        </p:nvSpPr>
        <p:spPr>
          <a:xfrm>
            <a:off x="2926080" y="2971800"/>
            <a:ext cx="1737360" cy="1737360"/>
          </a:xfrm>
          <a:prstGeom prst="ellipse">
            <a:avLst/>
          </a:prstGeom>
          <a:ln w="15875">
            <a:solidFill>
              <a:srgbClr val="F4F8FF"/>
            </a:solidFill>
          </a:ln>
          <a:gradFill>
            <a:gsLst>
              <a:gs pos="0">
                <a:srgbClr val="6366F1"/>
              </a:gs>
              <a:gs pos="100000">
                <a:srgbClr val="A855F7"/>
              </a:gs>
            </a:gsLst>
            <a:lin ang="2700000" scaled="1"/>
          </a:gradFill>
          <a:effectLst>
            <a:outerShdw blurRad="330200" dist="127000" dir="5400000" rotWithShape="0">
              <a:srgbClr val="05060F">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0"/>
              </a:spcAft>
            </a:pPr>
            <a:r>
              <a:rPr sz="2600" b="0">
                <a:solidFill>
                  <a:srgbClr val="F4F8FF"/>
                </a:solidFill>
                <a:latin typeface="Segoe UI"/>
              </a:rPr>
              <a:t>⚙️</a:t>
            </a:r>
          </a:p>
          <a:p>
            <a:pPr algn="ctr">
              <a:lnSpc>
                <a:spcPct val="100000"/>
              </a:lnSpc>
              <a:spcBef>
                <a:spcPts val="0"/>
              </a:spcBef>
              <a:spcAft>
                <a:spcPts val="0"/>
              </a:spcAft>
            </a:pPr>
            <a:r>
              <a:rPr sz="1500" b="1">
                <a:solidFill>
                  <a:srgbClr val="F4F8FF"/>
                </a:solidFill>
                <a:latin typeface="Segoe UI Semibold"/>
              </a:rPr>
              <a:t>GenAI</a:t>
            </a:r>
          </a:p>
          <a:p>
            <a:pPr algn="ctr">
              <a:lnSpc>
                <a:spcPct val="100000"/>
              </a:lnSpc>
              <a:spcBef>
                <a:spcPts val="0"/>
              </a:spcBef>
              <a:spcAft>
                <a:spcPts val="0"/>
              </a:spcAft>
            </a:pPr>
            <a:r>
              <a:rPr sz="1300" b="1">
                <a:solidFill>
                  <a:srgbClr val="F4F8FF"/>
                </a:solidFill>
                <a:latin typeface="Segoe UI Semibold"/>
              </a:rPr>
              <a:t>Core</a:t>
            </a:r>
          </a:p>
        </p:txBody>
      </p:sp>
      <p:cxnSp>
        <p:nvCxnSpPr>
          <p:cNvPr id="9" name="Connector 8"/>
          <p:cNvCxnSpPr/>
          <p:nvPr/>
        </p:nvCxnSpPr>
        <p:spPr>
          <a:xfrm flipV="1">
            <a:off x="3794760" y="2359152"/>
            <a:ext cx="0" cy="1481328"/>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00300" y="1938528"/>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28316" y="2112264"/>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12" name="TextBox 11"/>
          <p:cNvSpPr txBox="1"/>
          <p:nvPr/>
        </p:nvSpPr>
        <p:spPr>
          <a:xfrm>
            <a:off x="3131820" y="2057400"/>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AI Resume Understanding</a:t>
            </a:r>
          </a:p>
          <a:p>
            <a:pPr algn="l">
              <a:lnSpc>
                <a:spcPct val="97000"/>
              </a:lnSpc>
              <a:spcBef>
                <a:spcPts val="0"/>
              </a:spcBef>
              <a:spcAft>
                <a:spcPts val="100"/>
              </a:spcAft>
            </a:pPr>
            <a:r>
              <a:rPr sz="950" b="0">
                <a:solidFill>
                  <a:srgbClr val="A9B6D6"/>
                </a:solidFill>
                <a:latin typeface="Segoe UI"/>
              </a:rPr>
              <a:t>Semantic profile extraction</a:t>
            </a:r>
          </a:p>
        </p:txBody>
      </p:sp>
      <p:cxnSp>
        <p:nvCxnSpPr>
          <p:cNvPr id="13" name="Connector 12"/>
          <p:cNvCxnSpPr/>
          <p:nvPr/>
        </p:nvCxnSpPr>
        <p:spPr>
          <a:xfrm flipV="1">
            <a:off x="3794760" y="3099816"/>
            <a:ext cx="2415275" cy="740664"/>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15575" y="2679192"/>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43591" y="2852928"/>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16" name="TextBox 15"/>
          <p:cNvSpPr txBox="1"/>
          <p:nvPr/>
        </p:nvSpPr>
        <p:spPr>
          <a:xfrm>
            <a:off x="5547095" y="2798064"/>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Skill Intelligence</a:t>
            </a:r>
          </a:p>
          <a:p>
            <a:pPr algn="l">
              <a:lnSpc>
                <a:spcPct val="97000"/>
              </a:lnSpc>
              <a:spcBef>
                <a:spcPts val="0"/>
              </a:spcBef>
              <a:spcAft>
                <a:spcPts val="100"/>
              </a:spcAft>
            </a:pPr>
            <a:r>
              <a:rPr sz="950" b="0">
                <a:solidFill>
                  <a:srgbClr val="A9B6D6"/>
                </a:solidFill>
                <a:latin typeface="Segoe UI"/>
              </a:rPr>
              <a:t>Skill graph generation</a:t>
            </a:r>
          </a:p>
        </p:txBody>
      </p:sp>
      <p:cxnSp>
        <p:nvCxnSpPr>
          <p:cNvPr id="17" name="Connector 16"/>
          <p:cNvCxnSpPr/>
          <p:nvPr/>
        </p:nvCxnSpPr>
        <p:spPr>
          <a:xfrm>
            <a:off x="3794760" y="3840480"/>
            <a:ext cx="2415275" cy="740664"/>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815575" y="4160520"/>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43591" y="4334256"/>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20" name="TextBox 19"/>
          <p:cNvSpPr txBox="1"/>
          <p:nvPr/>
        </p:nvSpPr>
        <p:spPr>
          <a:xfrm>
            <a:off x="5547095" y="4279392"/>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GenAI Assessments</a:t>
            </a:r>
          </a:p>
          <a:p>
            <a:pPr algn="l">
              <a:lnSpc>
                <a:spcPct val="97000"/>
              </a:lnSpc>
              <a:spcBef>
                <a:spcPts val="0"/>
              </a:spcBef>
              <a:spcAft>
                <a:spcPts val="100"/>
              </a:spcAft>
            </a:pPr>
            <a:r>
              <a:rPr sz="950" b="0">
                <a:solidFill>
                  <a:srgbClr val="A9B6D6"/>
                </a:solidFill>
                <a:latin typeface="Segoe UI"/>
              </a:rPr>
              <a:t>Dynamic question generation</a:t>
            </a:r>
          </a:p>
        </p:txBody>
      </p:sp>
      <p:cxnSp>
        <p:nvCxnSpPr>
          <p:cNvPr id="21" name="Connector 20"/>
          <p:cNvCxnSpPr/>
          <p:nvPr/>
        </p:nvCxnSpPr>
        <p:spPr>
          <a:xfrm>
            <a:off x="3794760" y="3840480"/>
            <a:ext cx="0" cy="1481328"/>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400300" y="4901184"/>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28316" y="5074920"/>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24" name="TextBox 23"/>
          <p:cNvSpPr txBox="1"/>
          <p:nvPr/>
        </p:nvSpPr>
        <p:spPr>
          <a:xfrm>
            <a:off x="3131820" y="5020056"/>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AI Interview Assistant</a:t>
            </a:r>
          </a:p>
          <a:p>
            <a:pPr algn="l">
              <a:lnSpc>
                <a:spcPct val="97000"/>
              </a:lnSpc>
              <a:spcBef>
                <a:spcPts val="0"/>
              </a:spcBef>
              <a:spcAft>
                <a:spcPts val="100"/>
              </a:spcAft>
            </a:pPr>
            <a:r>
              <a:rPr sz="950" b="0">
                <a:solidFill>
                  <a:srgbClr val="A9B6D6"/>
                </a:solidFill>
                <a:latin typeface="Segoe UI"/>
              </a:rPr>
              <a:t>Automated evaluation &amp; scoring</a:t>
            </a:r>
          </a:p>
        </p:txBody>
      </p:sp>
      <p:cxnSp>
        <p:nvCxnSpPr>
          <p:cNvPr id="25" name="Connector 24"/>
          <p:cNvCxnSpPr/>
          <p:nvPr/>
        </p:nvCxnSpPr>
        <p:spPr>
          <a:xfrm flipH="1">
            <a:off x="1379484" y="3840480"/>
            <a:ext cx="2415276" cy="740664"/>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4975" y="4160520"/>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3040" y="4334256"/>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28" name="TextBox 27"/>
          <p:cNvSpPr txBox="1"/>
          <p:nvPr/>
        </p:nvSpPr>
        <p:spPr>
          <a:xfrm>
            <a:off x="716544" y="4279392"/>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Real-Time Proctoring</a:t>
            </a:r>
          </a:p>
          <a:p>
            <a:pPr algn="l">
              <a:lnSpc>
                <a:spcPct val="97000"/>
              </a:lnSpc>
              <a:spcBef>
                <a:spcPts val="0"/>
              </a:spcBef>
              <a:spcAft>
                <a:spcPts val="100"/>
              </a:spcAft>
            </a:pPr>
            <a:r>
              <a:rPr sz="950" b="0">
                <a:solidFill>
                  <a:srgbClr val="A9B6D6"/>
                </a:solidFill>
                <a:latin typeface="Segoe UI"/>
              </a:rPr>
              <a:t>Face · tab-switch · anomaly detection</a:t>
            </a:r>
          </a:p>
        </p:txBody>
      </p:sp>
      <p:cxnSp>
        <p:nvCxnSpPr>
          <p:cNvPr id="29" name="Connector 28"/>
          <p:cNvCxnSpPr/>
          <p:nvPr/>
        </p:nvCxnSpPr>
        <p:spPr>
          <a:xfrm flipH="1" flipV="1">
            <a:off x="1379484" y="3099816"/>
            <a:ext cx="2415276" cy="740664"/>
          </a:xfrm>
          <a:prstGeom prst="line">
            <a:avLst/>
          </a:prstGeom>
          <a:ln w="13970">
            <a:solidFill>
              <a:srgbClr val="3A4D8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4975" y="2679192"/>
            <a:ext cx="2788920" cy="841248"/>
          </a:xfrm>
          <a:prstGeom prst="roundRect">
            <a:avLst>
              <a:gd name="adj" fmla="val 14000"/>
            </a:avLst>
          </a:prstGeom>
          <a:ln w="12700">
            <a:solidFill>
              <a:srgbClr val="3A4D80"/>
            </a:solidFill>
          </a:ln>
          <a:solidFill>
            <a:srgbClr val="16203D">
              <a:alpha val="97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3040" y="2852928"/>
            <a:ext cx="493776" cy="493776"/>
          </a:xfrm>
          <a:prstGeom prst="roundRect">
            <a:avLst>
              <a:gd name="adj" fmla="val 28000"/>
            </a:avLst>
          </a:prstGeom>
          <a:ln w="12700">
            <a:solidFill>
              <a:srgbClr val="6366F1"/>
            </a:solidFill>
          </a:ln>
          <a:effectLst/>
          <a:gradFill>
            <a:gsLst>
              <a:gs pos="0">
                <a:srgbClr val="22D3EE">
                  <a:alpha val="18000"/>
                </a:srgbClr>
              </a:gs>
              <a:gs pos="100000">
                <a:srgbClr val="6366F1">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404" b="0">
                <a:solidFill>
                  <a:srgbClr val="F4F8FF"/>
                </a:solidFill>
                <a:latin typeface="Segoe UI"/>
              </a:rPr>
              <a:t>🚀</a:t>
            </a:r>
          </a:p>
        </p:txBody>
      </p:sp>
      <p:sp>
        <p:nvSpPr>
          <p:cNvPr id="32" name="TextBox 31"/>
          <p:cNvSpPr txBox="1"/>
          <p:nvPr/>
        </p:nvSpPr>
        <p:spPr>
          <a:xfrm>
            <a:off x="716544" y="2798064"/>
            <a:ext cx="1920239" cy="658368"/>
          </a:xfrm>
          <a:prstGeom prst="rect">
            <a:avLst/>
          </a:prstGeom>
          <a:noFill/>
        </p:spPr>
        <p:txBody>
          <a:bodyPr wrap="square" anchor="t" lIns="0" rIns="0" tIns="0" bIns="0">
            <a:spAutoFit/>
          </a:bodyPr>
          <a:lstStyle/>
          <a:p>
            <a:pPr algn="l">
              <a:lnSpc>
                <a:spcPct val="97000"/>
              </a:lnSpc>
              <a:spcBef>
                <a:spcPts val="0"/>
              </a:spcBef>
              <a:spcAft>
                <a:spcPts val="100"/>
              </a:spcAft>
            </a:pPr>
            <a:r>
              <a:rPr sz="1150" b="1">
                <a:solidFill>
                  <a:srgbClr val="F4F8FF"/>
                </a:solidFill>
                <a:latin typeface="Segoe UI"/>
              </a:rPr>
              <a:t>Learning Pathways</a:t>
            </a:r>
          </a:p>
          <a:p>
            <a:pPr algn="l">
              <a:lnSpc>
                <a:spcPct val="97000"/>
              </a:lnSpc>
              <a:spcBef>
                <a:spcPts val="0"/>
              </a:spcBef>
              <a:spcAft>
                <a:spcPts val="100"/>
              </a:spcAft>
            </a:pPr>
            <a:r>
              <a:rPr sz="950" b="0">
                <a:solidFill>
                  <a:srgbClr val="A9B6D6"/>
                </a:solidFill>
                <a:latin typeface="Segoe UI"/>
              </a:rPr>
              <a:t>Personalized recommendations</a:t>
            </a:r>
          </a:p>
        </p:txBody>
      </p:sp>
      <p:sp>
        <p:nvSpPr>
          <p:cNvPr id="33" name="Rounded Rectangle 32"/>
          <p:cNvSpPr/>
          <p:nvPr/>
        </p:nvSpPr>
        <p:spPr>
          <a:xfrm>
            <a:off x="7818120" y="1481328"/>
            <a:ext cx="3794760" cy="4526280"/>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18120" y="1481328"/>
            <a:ext cx="3794760" cy="64008"/>
          </a:xfrm>
          <a:prstGeom prst="rect">
            <a:avLst/>
          </a:prstGeom>
          <a:ln>
            <a:noFill/>
          </a:ln>
          <a:effectLst/>
          <a:gradFill>
            <a:gsLst>
              <a:gs pos="0">
                <a:srgbClr val="22D3EE"/>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1691640"/>
            <a:ext cx="338328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a:solidFill>
                  <a:srgbClr val="F4F8FF"/>
                </a:solidFill>
                <a:latin typeface="Segoe UI"/>
              </a:rPr>
              <a:t>⚡  Technology Stack</a:t>
            </a:r>
          </a:p>
        </p:txBody>
      </p:sp>
      <p:sp>
        <p:nvSpPr>
          <p:cNvPr id="36" name="Rounded Rectangle 35"/>
          <p:cNvSpPr/>
          <p:nvPr/>
        </p:nvSpPr>
        <p:spPr>
          <a:xfrm>
            <a:off x="8065008" y="2212848"/>
            <a:ext cx="457200" cy="457200"/>
          </a:xfrm>
          <a:prstGeom prst="roundRect">
            <a:avLst>
              <a:gd name="adj" fmla="val 28000"/>
            </a:avLst>
          </a:prstGeom>
          <a:ln w="12700">
            <a:solidFill>
              <a:srgbClr val="A855F7"/>
            </a:solidFill>
          </a:ln>
          <a:effectLst/>
          <a:gradFill>
            <a:gsLst>
              <a:gs pos="0">
                <a:srgbClr val="8B5CF6">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37" name="TextBox 36"/>
          <p:cNvSpPr txBox="1"/>
          <p:nvPr/>
        </p:nvSpPr>
        <p:spPr>
          <a:xfrm>
            <a:off x="8650224" y="2185416"/>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LLMs</a:t>
            </a:r>
          </a:p>
          <a:p>
            <a:pPr algn="l">
              <a:lnSpc>
                <a:spcPct val="100000"/>
              </a:lnSpc>
              <a:spcBef>
                <a:spcPts val="0"/>
              </a:spcBef>
              <a:spcAft>
                <a:spcPts val="100"/>
              </a:spcAft>
            </a:pPr>
            <a:r>
              <a:rPr sz="1000" b="0">
                <a:solidFill>
                  <a:srgbClr val="A9B6D6"/>
                </a:solidFill>
                <a:latin typeface="Segoe UI"/>
              </a:rPr>
              <a:t>Reasoning &amp; generation</a:t>
            </a:r>
          </a:p>
        </p:txBody>
      </p:sp>
      <p:sp>
        <p:nvSpPr>
          <p:cNvPr id="38" name="Rounded Rectangle 37"/>
          <p:cNvSpPr/>
          <p:nvPr/>
        </p:nvSpPr>
        <p:spPr>
          <a:xfrm>
            <a:off x="8065008" y="2980944"/>
            <a:ext cx="457200" cy="457200"/>
          </a:xfrm>
          <a:prstGeom prst="roundRect">
            <a:avLst>
              <a:gd name="adj" fmla="val 28000"/>
            </a:avLst>
          </a:prstGeom>
          <a:ln w="12700">
            <a:solidFill>
              <a:srgbClr val="A855F7"/>
            </a:solidFill>
          </a:ln>
          <a:effectLst/>
          <a:gradFill>
            <a:gsLst>
              <a:gs pos="0">
                <a:srgbClr val="8B5CF6">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39" name="TextBox 38"/>
          <p:cNvSpPr txBox="1"/>
          <p:nvPr/>
        </p:nvSpPr>
        <p:spPr>
          <a:xfrm>
            <a:off x="8650224" y="2953512"/>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RAG</a:t>
            </a:r>
          </a:p>
          <a:p>
            <a:pPr algn="l">
              <a:lnSpc>
                <a:spcPct val="100000"/>
              </a:lnSpc>
              <a:spcBef>
                <a:spcPts val="0"/>
              </a:spcBef>
              <a:spcAft>
                <a:spcPts val="100"/>
              </a:spcAft>
            </a:pPr>
            <a:r>
              <a:rPr sz="1000" b="0">
                <a:solidFill>
                  <a:srgbClr val="A9B6D6"/>
                </a:solidFill>
                <a:latin typeface="Segoe UI"/>
              </a:rPr>
              <a:t>Grounded, contextual answers</a:t>
            </a:r>
          </a:p>
        </p:txBody>
      </p:sp>
      <p:sp>
        <p:nvSpPr>
          <p:cNvPr id="40" name="Rounded Rectangle 39"/>
          <p:cNvSpPr/>
          <p:nvPr/>
        </p:nvSpPr>
        <p:spPr>
          <a:xfrm>
            <a:off x="8065008" y="3749039"/>
            <a:ext cx="457200" cy="457200"/>
          </a:xfrm>
          <a:prstGeom prst="roundRect">
            <a:avLst>
              <a:gd name="adj" fmla="val 28000"/>
            </a:avLst>
          </a:prstGeom>
          <a:ln w="12700">
            <a:solidFill>
              <a:srgbClr val="A855F7"/>
            </a:solidFill>
          </a:ln>
          <a:effectLst/>
          <a:gradFill>
            <a:gsLst>
              <a:gs pos="0">
                <a:srgbClr val="8B5CF6">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1" name="TextBox 40"/>
          <p:cNvSpPr txBox="1"/>
          <p:nvPr/>
        </p:nvSpPr>
        <p:spPr>
          <a:xfrm>
            <a:off x="8650224" y="3721607"/>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Vector Database</a:t>
            </a:r>
          </a:p>
          <a:p>
            <a:pPr algn="l">
              <a:lnSpc>
                <a:spcPct val="100000"/>
              </a:lnSpc>
              <a:spcBef>
                <a:spcPts val="0"/>
              </a:spcBef>
              <a:spcAft>
                <a:spcPts val="100"/>
              </a:spcAft>
            </a:pPr>
            <a:r>
              <a:rPr sz="1000" b="0">
                <a:solidFill>
                  <a:srgbClr val="A9B6D6"/>
                </a:solidFill>
                <a:latin typeface="Segoe UI"/>
              </a:rPr>
              <a:t>Semantic retrieval</a:t>
            </a:r>
          </a:p>
        </p:txBody>
      </p:sp>
      <p:sp>
        <p:nvSpPr>
          <p:cNvPr id="42" name="Rounded Rectangle 41"/>
          <p:cNvSpPr/>
          <p:nvPr/>
        </p:nvSpPr>
        <p:spPr>
          <a:xfrm>
            <a:off x="8065008" y="4517136"/>
            <a:ext cx="457200" cy="457200"/>
          </a:xfrm>
          <a:prstGeom prst="roundRect">
            <a:avLst>
              <a:gd name="adj" fmla="val 28000"/>
            </a:avLst>
          </a:prstGeom>
          <a:ln w="12700">
            <a:solidFill>
              <a:srgbClr val="A855F7"/>
            </a:solidFill>
          </a:ln>
          <a:effectLst/>
          <a:gradFill>
            <a:gsLst>
              <a:gs pos="0">
                <a:srgbClr val="8B5CF6">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3" name="TextBox 42"/>
          <p:cNvSpPr txBox="1"/>
          <p:nvPr/>
        </p:nvSpPr>
        <p:spPr>
          <a:xfrm>
            <a:off x="8650224" y="4489703"/>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Knowledge Graphs</a:t>
            </a:r>
          </a:p>
          <a:p>
            <a:pPr algn="l">
              <a:lnSpc>
                <a:spcPct val="100000"/>
              </a:lnSpc>
              <a:spcBef>
                <a:spcPts val="0"/>
              </a:spcBef>
              <a:spcAft>
                <a:spcPts val="100"/>
              </a:spcAft>
            </a:pPr>
            <a:r>
              <a:rPr sz="1000" b="0">
                <a:solidFill>
                  <a:srgbClr val="A9B6D6"/>
                </a:solidFill>
                <a:latin typeface="Segoe UI"/>
              </a:rPr>
              <a:t>Skill &amp; role mapping</a:t>
            </a:r>
          </a:p>
        </p:txBody>
      </p:sp>
      <p:sp>
        <p:nvSpPr>
          <p:cNvPr id="44" name="Rounded Rectangle 43"/>
          <p:cNvSpPr/>
          <p:nvPr/>
        </p:nvSpPr>
        <p:spPr>
          <a:xfrm>
            <a:off x="8065008" y="5285231"/>
            <a:ext cx="457200" cy="457200"/>
          </a:xfrm>
          <a:prstGeom prst="roundRect">
            <a:avLst>
              <a:gd name="adj" fmla="val 28000"/>
            </a:avLst>
          </a:prstGeom>
          <a:ln w="12700">
            <a:solidFill>
              <a:srgbClr val="A855F7"/>
            </a:solidFill>
          </a:ln>
          <a:effectLst/>
          <a:gradFill>
            <a:gsLst>
              <a:gs pos="0">
                <a:srgbClr val="8B5CF6">
                  <a:alpha val="18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300" b="0">
                <a:solidFill>
                  <a:srgbClr val="F4F8FF"/>
                </a:solidFill>
                <a:latin typeface="Segoe UI"/>
              </a:rPr>
              <a:t>🧠</a:t>
            </a:r>
          </a:p>
        </p:txBody>
      </p:sp>
      <p:sp>
        <p:nvSpPr>
          <p:cNvPr id="45" name="TextBox 44"/>
          <p:cNvSpPr txBox="1"/>
          <p:nvPr/>
        </p:nvSpPr>
        <p:spPr>
          <a:xfrm>
            <a:off x="8650224" y="5257799"/>
            <a:ext cx="2834640" cy="731520"/>
          </a:xfrm>
          <a:prstGeom prst="rect">
            <a:avLst/>
          </a:prstGeom>
          <a:noFill/>
        </p:spPr>
        <p:txBody>
          <a:bodyPr wrap="square" anchor="t" lIns="0" rIns="0" tIns="0" bIns="0">
            <a:spAutoFit/>
          </a:bodyPr>
          <a:lstStyle/>
          <a:p>
            <a:pPr algn="l">
              <a:lnSpc>
                <a:spcPct val="100000"/>
              </a:lnSpc>
              <a:spcBef>
                <a:spcPts val="0"/>
              </a:spcBef>
              <a:spcAft>
                <a:spcPts val="100"/>
              </a:spcAft>
            </a:pPr>
            <a:r>
              <a:rPr sz="1250" b="1">
                <a:solidFill>
                  <a:srgbClr val="F4F8FF"/>
                </a:solidFill>
                <a:latin typeface="Segoe UI"/>
              </a:rPr>
              <a:t>Agentic AI</a:t>
            </a:r>
          </a:p>
          <a:p>
            <a:pPr algn="l">
              <a:lnSpc>
                <a:spcPct val="100000"/>
              </a:lnSpc>
              <a:spcBef>
                <a:spcPts val="0"/>
              </a:spcBef>
              <a:spcAft>
                <a:spcPts val="100"/>
              </a:spcAft>
            </a:pPr>
            <a:r>
              <a:rPr sz="1000" b="0">
                <a:solidFill>
                  <a:srgbClr val="A9B6D6"/>
                </a:solidFill>
                <a:latin typeface="Segoe UI"/>
              </a:rPr>
              <a:t>Autonomous task execution</a:t>
            </a:r>
          </a:p>
        </p:txBody>
      </p:sp>
      <p:sp>
        <p:nvSpPr>
          <p:cNvPr id="46" name="Rectangle 45"/>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48" name="TextBox 47"/>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BUSINESS  VALUE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a:solidFill>
                  <a:srgbClr val="F4F8FF"/>
                </a:solidFill>
                <a:latin typeface="Segoe UI Semibold"/>
              </a:rPr>
              <a:t>Business Value </a:t>
            </a:r>
            <a:r>
              <a:rPr sz="3000" b="1">
                <a:solidFill>
                  <a:srgbClr val="22D3EE"/>
                </a:solidFill>
                <a:latin typeface="Segoe UI Semibold"/>
              </a:rPr>
              <a:t>Delivered</a:t>
            </a:r>
          </a:p>
        </p:txBody>
      </p:sp>
      <p:sp>
        <p:nvSpPr>
          <p:cNvPr id="8" name="Rounded Rectangle 7"/>
          <p:cNvSpPr/>
          <p:nvPr/>
        </p:nvSpPr>
        <p:spPr>
          <a:xfrm>
            <a:off x="566928" y="1554480"/>
            <a:ext cx="2670048" cy="1481328"/>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54480"/>
            <a:ext cx="2670048" cy="64008"/>
          </a:xfrm>
          <a:prstGeom prst="rect">
            <a:avLst/>
          </a:prstGeom>
          <a:ln>
            <a:noFill/>
          </a:ln>
          <a:effectLst/>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A9B6D6"/>
                </a:solidFill>
                <a:latin typeface="Segoe UI"/>
              </a:rPr>
              <a:t>HIRING CYCLE</a:t>
            </a:r>
          </a:p>
        </p:txBody>
      </p:sp>
      <p:sp>
        <p:nvSpPr>
          <p:cNvPr id="11" name="TextBox 10"/>
          <p:cNvSpPr txBox="1"/>
          <p:nvPr/>
        </p:nvSpPr>
        <p:spPr>
          <a:xfrm>
            <a:off x="74980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34D399"/>
                </a:solidFill>
                <a:latin typeface="Segoe UI"/>
              </a:rPr>
              <a:t>▼ </a:t>
            </a:r>
            <a:r>
              <a:rPr sz="4200" b="1">
                <a:solidFill>
                  <a:srgbClr val="F4F8FF"/>
                </a:solidFill>
                <a:latin typeface="Segoe UI Semibold"/>
              </a:rPr>
              <a:t>60%</a:t>
            </a:r>
          </a:p>
        </p:txBody>
      </p:sp>
      <p:sp>
        <p:nvSpPr>
          <p:cNvPr id="12" name="TextBox 11"/>
          <p:cNvSpPr txBox="1"/>
          <p:nvPr/>
        </p:nvSpPr>
        <p:spPr>
          <a:xfrm>
            <a:off x="76809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A9B6D6"/>
                </a:solidFill>
                <a:latin typeface="Segoe UI"/>
              </a:rPr>
              <a:t>faster time-to-hire</a:t>
            </a:r>
          </a:p>
        </p:txBody>
      </p:sp>
      <p:sp>
        <p:nvSpPr>
          <p:cNvPr id="13" name="Rounded Rectangle 12"/>
          <p:cNvSpPr/>
          <p:nvPr/>
        </p:nvSpPr>
        <p:spPr>
          <a:xfrm>
            <a:off x="3401568" y="1554480"/>
            <a:ext cx="2670048" cy="1481328"/>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01568" y="1554480"/>
            <a:ext cx="2670048" cy="64008"/>
          </a:xfrm>
          <a:prstGeom prst="rect">
            <a:avLst/>
          </a:prstGeom>
          <a:ln>
            <a:noFill/>
          </a:ln>
          <a:effectLst/>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A9B6D6"/>
                </a:solidFill>
                <a:latin typeface="Segoe UI"/>
              </a:rPr>
              <a:t>RECRUITER PRODUCTIVITY</a:t>
            </a:r>
          </a:p>
        </p:txBody>
      </p:sp>
      <p:sp>
        <p:nvSpPr>
          <p:cNvPr id="16" name="TextBox 15"/>
          <p:cNvSpPr txBox="1"/>
          <p:nvPr/>
        </p:nvSpPr>
        <p:spPr>
          <a:xfrm>
            <a:off x="358444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22D3EE"/>
                </a:solidFill>
                <a:latin typeface="Segoe UI"/>
              </a:rPr>
              <a:t>▲ </a:t>
            </a:r>
            <a:r>
              <a:rPr sz="4200" b="1">
                <a:solidFill>
                  <a:srgbClr val="F4F8FF"/>
                </a:solidFill>
                <a:latin typeface="Segoe UI Semibold"/>
              </a:rPr>
              <a:t>3x</a:t>
            </a:r>
          </a:p>
        </p:txBody>
      </p:sp>
      <p:sp>
        <p:nvSpPr>
          <p:cNvPr id="17" name="TextBox 16"/>
          <p:cNvSpPr txBox="1"/>
          <p:nvPr/>
        </p:nvSpPr>
        <p:spPr>
          <a:xfrm>
            <a:off x="360273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A9B6D6"/>
                </a:solidFill>
                <a:latin typeface="Segoe UI"/>
              </a:rPr>
              <a:t>more output per recruiter</a:t>
            </a:r>
          </a:p>
        </p:txBody>
      </p:sp>
      <p:sp>
        <p:nvSpPr>
          <p:cNvPr id="18" name="Rounded Rectangle 17"/>
          <p:cNvSpPr/>
          <p:nvPr/>
        </p:nvSpPr>
        <p:spPr>
          <a:xfrm>
            <a:off x="6236208" y="1554480"/>
            <a:ext cx="2670048" cy="1481328"/>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1554480"/>
            <a:ext cx="2670048" cy="64008"/>
          </a:xfrm>
          <a:prstGeom prst="rect">
            <a:avLst/>
          </a:prstGeom>
          <a:ln>
            <a:noFill/>
          </a:ln>
          <a:effectLst/>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A9B6D6"/>
                </a:solidFill>
                <a:latin typeface="Segoe UI"/>
              </a:rPr>
              <a:t>SCREENING AUTOMATION</a:t>
            </a:r>
          </a:p>
        </p:txBody>
      </p:sp>
      <p:sp>
        <p:nvSpPr>
          <p:cNvPr id="21" name="TextBox 20"/>
          <p:cNvSpPr txBox="1"/>
          <p:nvPr/>
        </p:nvSpPr>
        <p:spPr>
          <a:xfrm>
            <a:off x="641908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8B5CF6"/>
                </a:solidFill>
                <a:latin typeface="Segoe UI"/>
              </a:rPr>
              <a:t>▲ </a:t>
            </a:r>
            <a:r>
              <a:rPr sz="4200" b="1">
                <a:solidFill>
                  <a:srgbClr val="F4F8FF"/>
                </a:solidFill>
                <a:latin typeface="Segoe UI Semibold"/>
              </a:rPr>
              <a:t>85%</a:t>
            </a:r>
          </a:p>
        </p:txBody>
      </p:sp>
      <p:sp>
        <p:nvSpPr>
          <p:cNvPr id="22" name="TextBox 21"/>
          <p:cNvSpPr txBox="1"/>
          <p:nvPr/>
        </p:nvSpPr>
        <p:spPr>
          <a:xfrm>
            <a:off x="643737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A9B6D6"/>
                </a:solidFill>
                <a:latin typeface="Segoe UI"/>
              </a:rPr>
              <a:t>of screening automated</a:t>
            </a:r>
          </a:p>
        </p:txBody>
      </p:sp>
      <p:sp>
        <p:nvSpPr>
          <p:cNvPr id="23" name="Rounded Rectangle 22"/>
          <p:cNvSpPr/>
          <p:nvPr/>
        </p:nvSpPr>
        <p:spPr>
          <a:xfrm>
            <a:off x="9070848" y="1554480"/>
            <a:ext cx="2670048" cy="1481328"/>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70848" y="1554480"/>
            <a:ext cx="2670048" cy="64008"/>
          </a:xfrm>
          <a:prstGeom prst="rect">
            <a:avLst/>
          </a:prstGeom>
          <a:ln>
            <a:noFill/>
          </a:ln>
          <a:effectLst/>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1719072"/>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1">
                <a:solidFill>
                  <a:srgbClr val="A9B6D6"/>
                </a:solidFill>
                <a:latin typeface="Segoe UI"/>
              </a:rPr>
              <a:t>OPERATIONAL COST</a:t>
            </a:r>
          </a:p>
        </p:txBody>
      </p:sp>
      <p:sp>
        <p:nvSpPr>
          <p:cNvPr id="26" name="TextBox 25"/>
          <p:cNvSpPr txBox="1"/>
          <p:nvPr/>
        </p:nvSpPr>
        <p:spPr>
          <a:xfrm>
            <a:off x="9253728" y="1938528"/>
            <a:ext cx="2304288" cy="731520"/>
          </a:xfrm>
          <a:prstGeom prst="rect">
            <a:avLst/>
          </a:prstGeom>
          <a:noFill/>
        </p:spPr>
        <p:txBody>
          <a:bodyPr wrap="square" anchor="t" lIns="0" rIns="0" tIns="0" bIns="0">
            <a:spAutoFit/>
          </a:bodyPr>
          <a:lstStyle/>
          <a:p>
            <a:pPr algn="l">
              <a:lnSpc>
                <a:spcPct val="100000"/>
              </a:lnSpc>
              <a:spcBef>
                <a:spcPts val="0"/>
              </a:spcBef>
              <a:spcAft>
                <a:spcPts val="400"/>
              </a:spcAft>
            </a:pPr>
            <a:r>
              <a:rPr sz="2200" b="1">
                <a:solidFill>
                  <a:srgbClr val="34D399"/>
                </a:solidFill>
                <a:latin typeface="Segoe UI"/>
              </a:rPr>
              <a:t>▼ </a:t>
            </a:r>
            <a:r>
              <a:rPr sz="4200" b="1">
                <a:solidFill>
                  <a:srgbClr val="F4F8FF"/>
                </a:solidFill>
                <a:latin typeface="Segoe UI Semibold"/>
              </a:rPr>
              <a:t>40%</a:t>
            </a:r>
          </a:p>
        </p:txBody>
      </p:sp>
      <p:sp>
        <p:nvSpPr>
          <p:cNvPr id="27" name="TextBox 26"/>
          <p:cNvSpPr txBox="1"/>
          <p:nvPr/>
        </p:nvSpPr>
        <p:spPr>
          <a:xfrm>
            <a:off x="9272016" y="2688336"/>
            <a:ext cx="2304288" cy="274320"/>
          </a:xfrm>
          <a:prstGeom prst="rect">
            <a:avLst/>
          </a:prstGeom>
          <a:noFill/>
        </p:spPr>
        <p:txBody>
          <a:bodyPr wrap="square" anchor="t" lIns="0" rIns="0" tIns="0" bIns="0">
            <a:spAutoFit/>
          </a:bodyPr>
          <a:lstStyle/>
          <a:p>
            <a:pPr algn="l">
              <a:lnSpc>
                <a:spcPct val="100000"/>
              </a:lnSpc>
              <a:spcBef>
                <a:spcPts val="0"/>
              </a:spcBef>
              <a:spcAft>
                <a:spcPts val="400"/>
              </a:spcAft>
            </a:pPr>
            <a:r>
              <a:rPr sz="1000" b="0">
                <a:solidFill>
                  <a:srgbClr val="A9B6D6"/>
                </a:solidFill>
                <a:latin typeface="Segoe UI"/>
              </a:rPr>
              <a:t>lower cost-to-hire</a:t>
            </a:r>
          </a:p>
        </p:txBody>
      </p:sp>
      <p:sp>
        <p:nvSpPr>
          <p:cNvPr id="28" name="Rounded Rectangle 27"/>
          <p:cNvSpPr/>
          <p:nvPr/>
        </p:nvSpPr>
        <p:spPr>
          <a:xfrm>
            <a:off x="566928" y="3246120"/>
            <a:ext cx="6903720" cy="2743200"/>
          </a:xfrm>
          <a:prstGeom prst="roundRect">
            <a:avLst>
              <a:gd name="adj" fmla="val 6000"/>
            </a:avLst>
          </a:prstGeom>
          <a:ln w="12700">
            <a:solidFill>
              <a:srgbClr val="2B3A63"/>
            </a:solidFill>
          </a:ln>
          <a:solidFill>
            <a:srgbClr val="111A33">
              <a:alpha val="95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3401568"/>
            <a:ext cx="6400800" cy="274320"/>
          </a:xfrm>
          <a:prstGeom prst="rect">
            <a:avLst/>
          </a:prstGeom>
          <a:noFill/>
        </p:spPr>
        <p:txBody>
          <a:bodyPr wrap="square" anchor="t" lIns="0" rIns="0" tIns="0" bIns="0">
            <a:spAutoFit/>
          </a:bodyPr>
          <a:lstStyle/>
          <a:p>
            <a:pPr algn="l">
              <a:lnSpc>
                <a:spcPct val="100000"/>
              </a:lnSpc>
              <a:spcBef>
                <a:spcPts val="0"/>
              </a:spcBef>
              <a:spcAft>
                <a:spcPts val="400"/>
              </a:spcAft>
            </a:pPr>
            <a:r>
              <a:rPr sz="1250" b="1">
                <a:solidFill>
                  <a:srgbClr val="F4F8FF"/>
                </a:solidFill>
                <a:latin typeface="Segoe UI"/>
              </a:rPr>
              <a:t>Performance Uplift Across the Funnel  (%)</a:t>
            </a:r>
          </a:p>
        </p:txBody>
      </p:sp>
      <p:graphicFrame>
        <p:nvGraphicFramePr>
          <p:cNvPr id="30" name="Chart 29"/>
          <p:cNvGraphicFramePr>
            <a:graphicFrameLocks noGrp="1"/>
          </p:cNvGraphicFramePr>
          <p:nvPr/>
        </p:nvGraphicFramePr>
        <p:xfrm>
          <a:off x="731520" y="3703320"/>
          <a:ext cx="6583680" cy="2194560"/>
        </p:xfrm>
        <a:graphic>
          <a:graphicData uri="http://schemas.openxmlformats.org/drawingml/2006/chart">
            <c:chart xmlns:c="http://schemas.openxmlformats.org/drawingml/2006/chart" r:id="rId2"/>
          </a:graphicData>
        </a:graphic>
      </p:graphicFrame>
      <p:sp>
        <p:nvSpPr>
          <p:cNvPr id="31" name="Rounded Rectangle 30"/>
          <p:cNvSpPr/>
          <p:nvPr/>
        </p:nvSpPr>
        <p:spPr>
          <a:xfrm>
            <a:off x="7635240" y="3246120"/>
            <a:ext cx="3977639" cy="2743200"/>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35240" y="3246120"/>
            <a:ext cx="3977639" cy="64008"/>
          </a:xfrm>
          <a:prstGeom prst="rect">
            <a:avLst/>
          </a:prstGeom>
          <a:ln>
            <a:noFill/>
          </a:ln>
          <a:effectLst/>
          <a:gradFill>
            <a:gsLst>
              <a:gs pos="0">
                <a:srgbClr val="22D3EE"/>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3419856"/>
            <a:ext cx="3566160" cy="320040"/>
          </a:xfrm>
          <a:prstGeom prst="rect">
            <a:avLst/>
          </a:prstGeom>
          <a:noFill/>
        </p:spPr>
        <p:txBody>
          <a:bodyPr wrap="square" anchor="t" lIns="0" rIns="0" tIns="0" bIns="0">
            <a:spAutoFit/>
          </a:bodyPr>
          <a:lstStyle/>
          <a:p>
            <a:pPr algn="l">
              <a:lnSpc>
                <a:spcPct val="100000"/>
              </a:lnSpc>
              <a:spcBef>
                <a:spcPts val="0"/>
              </a:spcBef>
              <a:spcAft>
                <a:spcPts val="400"/>
              </a:spcAft>
            </a:pPr>
            <a:r>
              <a:rPr sz="1400" b="1">
                <a:solidFill>
                  <a:srgbClr val="F4F8FF"/>
                </a:solidFill>
                <a:latin typeface="Segoe UI"/>
              </a:rPr>
              <a:t>✓  Additional Outcomes</a:t>
            </a:r>
          </a:p>
        </p:txBody>
      </p:sp>
      <p:sp>
        <p:nvSpPr>
          <p:cNvPr id="34" name="TextBox 33"/>
          <p:cNvSpPr txBox="1"/>
          <p:nvPr/>
        </p:nvSpPr>
        <p:spPr>
          <a:xfrm>
            <a:off x="7909560" y="3840480"/>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Faster hiring decisions</a:t>
            </a:r>
          </a:p>
        </p:txBody>
      </p:sp>
      <p:sp>
        <p:nvSpPr>
          <p:cNvPr id="35" name="TextBox 34"/>
          <p:cNvSpPr txBox="1"/>
          <p:nvPr/>
        </p:nvSpPr>
        <p:spPr>
          <a:xfrm>
            <a:off x="7909560" y="4192524"/>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Improved candidate experience</a:t>
            </a:r>
          </a:p>
        </p:txBody>
      </p:sp>
      <p:sp>
        <p:nvSpPr>
          <p:cNvPr id="36" name="TextBox 35"/>
          <p:cNvSpPr txBox="1"/>
          <p:nvPr/>
        </p:nvSpPr>
        <p:spPr>
          <a:xfrm>
            <a:off x="7909560" y="4544568"/>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Reduced interviewer workload</a:t>
            </a:r>
          </a:p>
        </p:txBody>
      </p:sp>
      <p:sp>
        <p:nvSpPr>
          <p:cNvPr id="37" name="TextBox 36"/>
          <p:cNvSpPr txBox="1"/>
          <p:nvPr/>
        </p:nvSpPr>
        <p:spPr>
          <a:xfrm>
            <a:off x="7909560" y="4896612"/>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Better workforce readiness</a:t>
            </a:r>
          </a:p>
        </p:txBody>
      </p:sp>
      <p:sp>
        <p:nvSpPr>
          <p:cNvPr id="38" name="TextBox 37"/>
          <p:cNvSpPr txBox="1"/>
          <p:nvPr/>
        </p:nvSpPr>
        <p:spPr>
          <a:xfrm>
            <a:off x="7909560" y="5248656"/>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+90% assessment coverage</a:t>
            </a:r>
          </a:p>
        </p:txBody>
      </p:sp>
      <p:sp>
        <p:nvSpPr>
          <p:cNvPr id="39" name="TextBox 38"/>
          <p:cNvSpPr txBox="1"/>
          <p:nvPr/>
        </p:nvSpPr>
        <p:spPr>
          <a:xfrm>
            <a:off x="7909560" y="5600700"/>
            <a:ext cx="3566160" cy="329184"/>
          </a:xfrm>
          <a:prstGeom prst="rect">
            <a:avLst/>
          </a:prstGeom>
          <a:noFill/>
        </p:spPr>
        <p:txBody>
          <a:bodyPr wrap="square" anchor="ctr" lIns="0" rIns="0" tIns="0" bIns="0">
            <a:spAutoFit/>
          </a:bodyPr>
          <a:lstStyle/>
          <a:p>
            <a:pPr algn="l">
              <a:lnSpc>
                <a:spcPct val="100000"/>
              </a:lnSpc>
              <a:spcBef>
                <a:spcPts val="0"/>
              </a:spcBef>
              <a:spcAft>
                <a:spcPts val="400"/>
              </a:spcAft>
            </a:pPr>
            <a:r>
              <a:rPr sz="1200" b="1">
                <a:solidFill>
                  <a:srgbClr val="34D399"/>
                </a:solidFill>
                <a:latin typeface="Segoe UI"/>
              </a:rPr>
              <a:t>✓  </a:t>
            </a:r>
            <a:r>
              <a:rPr sz="1150" b="0">
                <a:solidFill>
                  <a:srgbClr val="F4F8FF"/>
                </a:solidFill>
                <a:latin typeface="Segoe UI"/>
              </a:rPr>
              <a:t>+50% learning adoption</a:t>
            </a:r>
          </a:p>
        </p:txBody>
      </p:sp>
      <p:sp>
        <p:nvSpPr>
          <p:cNvPr id="40" name="Rectangle 39"/>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42" name="TextBox 41"/>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566928"/>
            <a:ext cx="64008" cy="420624"/>
          </a:xfrm>
          <a:prstGeom prst="rect">
            <a:avLst/>
          </a:prstGeom>
          <a:ln>
            <a:noFill/>
          </a:ln>
          <a:effectLst/>
          <a:gradFill>
            <a:gsLst>
              <a:gs pos="0">
                <a:srgbClr val="22D3EE"/>
              </a:gs>
              <a:gs pos="100000">
                <a:srgbClr val="A855F7"/>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75488"/>
            <a:ext cx="10058400" cy="292608"/>
          </a:xfrm>
          <a:prstGeom prst="rect">
            <a:avLst/>
          </a:prstGeom>
          <a:noFill/>
        </p:spPr>
        <p:txBody>
          <a:bodyPr wrap="square" anchor="t" lIns="0" rIns="0" tIns="0" bIns="0">
            <a:spAutoFit/>
          </a:bodyPr>
          <a:lstStyle/>
          <a:p>
            <a:pPr algn="l">
              <a:lnSpc>
                <a:spcPct val="100000"/>
              </a:lnSpc>
              <a:spcBef>
                <a:spcPts val="0"/>
              </a:spcBef>
              <a:spcAft>
                <a:spcPts val="400"/>
              </a:spcAft>
            </a:pPr>
            <a:r>
              <a:rPr sz="1150" b="1">
                <a:solidFill>
                  <a:srgbClr val="22D3EE"/>
                </a:solidFill>
                <a:latin typeface="Segoe UI"/>
              </a:rPr>
              <a:t>ROADMAP  &amp;  SCALE</a:t>
            </a:r>
          </a:p>
        </p:txBody>
      </p:sp>
      <p:sp>
        <p:nvSpPr>
          <p:cNvPr id="7" name="TextBox 6"/>
          <p:cNvSpPr txBox="1"/>
          <p:nvPr/>
        </p:nvSpPr>
        <p:spPr>
          <a:xfrm>
            <a:off x="731520" y="713232"/>
            <a:ext cx="10972800" cy="640080"/>
          </a:xfrm>
          <a:prstGeom prst="rect">
            <a:avLst/>
          </a:prstGeom>
          <a:noFill/>
        </p:spPr>
        <p:txBody>
          <a:bodyPr wrap="square" anchor="t" lIns="0" rIns="0" tIns="0" bIns="0">
            <a:spAutoFit/>
          </a:bodyPr>
          <a:lstStyle/>
          <a:p>
            <a:pPr algn="l">
              <a:lnSpc>
                <a:spcPct val="100000"/>
              </a:lnSpc>
              <a:spcBef>
                <a:spcPts val="0"/>
              </a:spcBef>
              <a:spcAft>
                <a:spcPts val="400"/>
              </a:spcAft>
            </a:pPr>
            <a:r>
              <a:rPr sz="2700" b="1">
                <a:solidFill>
                  <a:srgbClr val="F4F8FF"/>
                </a:solidFill>
                <a:latin typeface="Segoe UI Semibold"/>
              </a:rPr>
              <a:t>Scaling the Future of </a:t>
            </a:r>
            <a:r>
              <a:rPr sz="2700" b="1">
                <a:solidFill>
                  <a:srgbClr val="22D3EE"/>
                </a:solidFill>
                <a:latin typeface="Segoe UI Semibold"/>
              </a:rPr>
              <a:t>Talent Intelligence</a:t>
            </a:r>
          </a:p>
        </p:txBody>
      </p:sp>
      <p:sp>
        <p:nvSpPr>
          <p:cNvPr id="8" name="Rectangle 7"/>
          <p:cNvSpPr/>
          <p:nvPr/>
        </p:nvSpPr>
        <p:spPr>
          <a:xfrm>
            <a:off x="932688" y="2203704"/>
            <a:ext cx="8503920" cy="45720"/>
          </a:xfrm>
          <a:prstGeom prst="rect">
            <a:avLst/>
          </a:prstGeom>
          <a:ln>
            <a:noFill/>
          </a:ln>
          <a:effectLst/>
          <a:gradFill>
            <a:gsLst>
              <a:gs pos="0">
                <a:srgbClr val="22D3EE"/>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82496" y="2002536"/>
            <a:ext cx="438912" cy="438912"/>
          </a:xfrm>
          <a:prstGeom prst="ellipse">
            <a:avLst/>
          </a:prstGeom>
          <a:ln w="19050">
            <a:solidFill>
              <a:srgbClr val="F4F8FF"/>
            </a:solidFill>
          </a:ln>
          <a:effectLst/>
          <a:gradFill>
            <a:gsLst>
              <a:gs pos="0">
                <a:srgbClr val="22D3EE"/>
              </a:gs>
              <a:gs pos="100000">
                <a:srgbClr val="22D3EE"/>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4F8FF"/>
                </a:solidFill>
                <a:latin typeface="Segoe UI Semibold"/>
              </a:rPr>
              <a:t>1</a:t>
            </a:r>
          </a:p>
        </p:txBody>
      </p:sp>
      <p:sp>
        <p:nvSpPr>
          <p:cNvPr id="10" name="Rounded Rectangle 9"/>
          <p:cNvSpPr/>
          <p:nvPr/>
        </p:nvSpPr>
        <p:spPr>
          <a:xfrm>
            <a:off x="566928" y="2651760"/>
            <a:ext cx="2670048" cy="1874519"/>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F4F8FF"/>
                </a:solidFill>
                <a:latin typeface="Segoe UI"/>
              </a:rPr>
              <a:t>🤖</a:t>
            </a:r>
          </a:p>
          <a:p>
            <a:pPr algn="ctr">
              <a:lnSpc>
                <a:spcPct val="100000"/>
              </a:lnSpc>
              <a:spcBef>
                <a:spcPts val="0"/>
              </a:spcBef>
              <a:spcAft>
                <a:spcPts val="300"/>
              </a:spcAft>
            </a:pPr>
            <a:r>
              <a:rPr sz="1050" b="1">
                <a:solidFill>
                  <a:srgbClr val="22D3EE"/>
                </a:solidFill>
                <a:latin typeface="Segoe UI"/>
              </a:rPr>
              <a:t>PHASE 1</a:t>
            </a:r>
          </a:p>
          <a:p>
            <a:pPr algn="ctr">
              <a:lnSpc>
                <a:spcPct val="100000"/>
              </a:lnSpc>
              <a:spcBef>
                <a:spcPts val="0"/>
              </a:spcBef>
              <a:spcAft>
                <a:spcPts val="300"/>
              </a:spcAft>
            </a:pPr>
            <a:r>
              <a:rPr sz="1350" b="1">
                <a:solidFill>
                  <a:srgbClr val="F4F8FF"/>
                </a:solidFill>
                <a:latin typeface="Segoe UI"/>
              </a:rPr>
              <a:t>Current State</a:t>
            </a:r>
          </a:p>
          <a:p>
            <a:pPr algn="ctr">
              <a:lnSpc>
                <a:spcPct val="100000"/>
              </a:lnSpc>
              <a:spcBef>
                <a:spcPts val="0"/>
              </a:spcBef>
              <a:spcAft>
                <a:spcPts val="300"/>
              </a:spcAft>
            </a:pPr>
            <a:r>
              <a:rPr sz="1050" b="0">
                <a:solidFill>
                  <a:srgbClr val="A9B6D6"/>
                </a:solidFill>
                <a:latin typeface="Segoe UI"/>
              </a:rPr>
              <a:t>AI Hiring Automation</a:t>
            </a:r>
          </a:p>
        </p:txBody>
      </p:sp>
      <p:sp>
        <p:nvSpPr>
          <p:cNvPr id="11" name="Rectangle 10"/>
          <p:cNvSpPr/>
          <p:nvPr/>
        </p:nvSpPr>
        <p:spPr>
          <a:xfrm>
            <a:off x="566928" y="2651760"/>
            <a:ext cx="2670048" cy="64008"/>
          </a:xfrm>
          <a:prstGeom prst="rect">
            <a:avLst/>
          </a:prstGeom>
          <a:ln>
            <a:noFill/>
          </a:ln>
          <a:effectLst/>
          <a:solidFill>
            <a:srgbClr val="22D3EE"/>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17136" y="2002536"/>
            <a:ext cx="438912" cy="438912"/>
          </a:xfrm>
          <a:prstGeom prst="ellipse">
            <a:avLst/>
          </a:prstGeom>
          <a:ln w="19050">
            <a:solidFill>
              <a:srgbClr val="F4F8FF"/>
            </a:solidFill>
          </a:ln>
          <a:effectLst/>
          <a:gradFill>
            <a:gsLst>
              <a:gs pos="0">
                <a:srgbClr val="6366F1"/>
              </a:gs>
              <a:gs pos="100000">
                <a:srgbClr val="6366F1"/>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4F8FF"/>
                </a:solidFill>
                <a:latin typeface="Segoe UI Semibold"/>
              </a:rPr>
              <a:t>2</a:t>
            </a:r>
          </a:p>
        </p:txBody>
      </p:sp>
      <p:sp>
        <p:nvSpPr>
          <p:cNvPr id="13" name="Rounded Rectangle 12"/>
          <p:cNvSpPr/>
          <p:nvPr/>
        </p:nvSpPr>
        <p:spPr>
          <a:xfrm>
            <a:off x="3401568" y="2651760"/>
            <a:ext cx="2670048" cy="1874519"/>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F4F8FF"/>
                </a:solidFill>
                <a:latin typeface="Segoe UI"/>
              </a:rPr>
              <a:t>🔮</a:t>
            </a:r>
          </a:p>
          <a:p>
            <a:pPr algn="ctr">
              <a:lnSpc>
                <a:spcPct val="100000"/>
              </a:lnSpc>
              <a:spcBef>
                <a:spcPts val="0"/>
              </a:spcBef>
              <a:spcAft>
                <a:spcPts val="300"/>
              </a:spcAft>
            </a:pPr>
            <a:r>
              <a:rPr sz="1050" b="1">
                <a:solidFill>
                  <a:srgbClr val="6366F1"/>
                </a:solidFill>
                <a:latin typeface="Segoe UI"/>
              </a:rPr>
              <a:t>PHASE 2</a:t>
            </a:r>
          </a:p>
          <a:p>
            <a:pPr algn="ctr">
              <a:lnSpc>
                <a:spcPct val="100000"/>
              </a:lnSpc>
              <a:spcBef>
                <a:spcPts val="0"/>
              </a:spcBef>
              <a:spcAft>
                <a:spcPts val="300"/>
              </a:spcAft>
            </a:pPr>
            <a:r>
              <a:rPr sz="1350" b="1">
                <a:solidFill>
                  <a:srgbClr val="F4F8FF"/>
                </a:solidFill>
                <a:latin typeface="Segoe UI"/>
              </a:rPr>
              <a:t>Enhanced Intelligence</a:t>
            </a:r>
          </a:p>
          <a:p>
            <a:pPr algn="ctr">
              <a:lnSpc>
                <a:spcPct val="100000"/>
              </a:lnSpc>
              <a:spcBef>
                <a:spcPts val="0"/>
              </a:spcBef>
              <a:spcAft>
                <a:spcPts val="300"/>
              </a:spcAft>
            </a:pPr>
            <a:r>
              <a:rPr sz="1050" b="0">
                <a:solidFill>
                  <a:srgbClr val="A9B6D6"/>
                </a:solidFill>
                <a:latin typeface="Segoe UI"/>
              </a:rPr>
              <a:t>Predictive Hiring Analytics</a:t>
            </a:r>
          </a:p>
        </p:txBody>
      </p:sp>
      <p:sp>
        <p:nvSpPr>
          <p:cNvPr id="14" name="Rectangle 13"/>
          <p:cNvSpPr/>
          <p:nvPr/>
        </p:nvSpPr>
        <p:spPr>
          <a:xfrm>
            <a:off x="3401568" y="2651760"/>
            <a:ext cx="2670048" cy="64008"/>
          </a:xfrm>
          <a:prstGeom prst="rect">
            <a:avLst/>
          </a:prstGeom>
          <a:ln>
            <a:noFill/>
          </a:ln>
          <a:effectLst/>
          <a:solidFill>
            <a:srgbClr val="6366F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51776" y="2002536"/>
            <a:ext cx="438912" cy="438912"/>
          </a:xfrm>
          <a:prstGeom prst="ellipse">
            <a:avLst/>
          </a:prstGeom>
          <a:ln w="19050">
            <a:solidFill>
              <a:srgbClr val="F4F8FF"/>
            </a:solidFill>
          </a:ln>
          <a:effectLst/>
          <a:gradFill>
            <a:gsLst>
              <a:gs pos="0">
                <a:srgbClr val="8B5CF6"/>
              </a:gs>
              <a:gs pos="100000">
                <a:srgbClr val="8B5CF6"/>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4F8FF"/>
                </a:solidFill>
                <a:latin typeface="Segoe UI Semibold"/>
              </a:rPr>
              <a:t>3</a:t>
            </a:r>
          </a:p>
        </p:txBody>
      </p:sp>
      <p:sp>
        <p:nvSpPr>
          <p:cNvPr id="16" name="Rounded Rectangle 15"/>
          <p:cNvSpPr/>
          <p:nvPr/>
        </p:nvSpPr>
        <p:spPr>
          <a:xfrm>
            <a:off x="6236208" y="2651760"/>
            <a:ext cx="2670048" cy="1874519"/>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F4F8FF"/>
                </a:solidFill>
                <a:latin typeface="Segoe UI"/>
              </a:rPr>
              <a:t>🛰️</a:t>
            </a:r>
          </a:p>
          <a:p>
            <a:pPr algn="ctr">
              <a:lnSpc>
                <a:spcPct val="100000"/>
              </a:lnSpc>
              <a:spcBef>
                <a:spcPts val="0"/>
              </a:spcBef>
              <a:spcAft>
                <a:spcPts val="300"/>
              </a:spcAft>
            </a:pPr>
            <a:r>
              <a:rPr sz="1050" b="1">
                <a:solidFill>
                  <a:srgbClr val="8B5CF6"/>
                </a:solidFill>
                <a:latin typeface="Segoe UI"/>
              </a:rPr>
              <a:t>PHASE 3</a:t>
            </a:r>
          </a:p>
          <a:p>
            <a:pPr algn="ctr">
              <a:lnSpc>
                <a:spcPct val="100000"/>
              </a:lnSpc>
              <a:spcBef>
                <a:spcPts val="0"/>
              </a:spcBef>
              <a:spcAft>
                <a:spcPts val="300"/>
              </a:spcAft>
            </a:pPr>
            <a:r>
              <a:rPr sz="1350" b="1">
                <a:solidFill>
                  <a:srgbClr val="F4F8FF"/>
                </a:solidFill>
                <a:latin typeface="Segoe UI"/>
              </a:rPr>
              <a:t>Autonomous Ecosystem</a:t>
            </a:r>
          </a:p>
          <a:p>
            <a:pPr algn="ctr">
              <a:lnSpc>
                <a:spcPct val="100000"/>
              </a:lnSpc>
              <a:spcBef>
                <a:spcPts val="0"/>
              </a:spcBef>
              <a:spcAft>
                <a:spcPts val="300"/>
              </a:spcAft>
            </a:pPr>
            <a:r>
              <a:rPr sz="1050" b="0">
                <a:solidFill>
                  <a:srgbClr val="A9B6D6"/>
                </a:solidFill>
                <a:latin typeface="Segoe UI"/>
              </a:rPr>
              <a:t>Multi-Agent Recruiting</a:t>
            </a:r>
          </a:p>
        </p:txBody>
      </p:sp>
      <p:sp>
        <p:nvSpPr>
          <p:cNvPr id="17" name="Rectangle 16"/>
          <p:cNvSpPr/>
          <p:nvPr/>
        </p:nvSpPr>
        <p:spPr>
          <a:xfrm>
            <a:off x="6236208" y="2651760"/>
            <a:ext cx="2670048" cy="64008"/>
          </a:xfrm>
          <a:prstGeom prst="rect">
            <a:avLst/>
          </a:prstGeom>
          <a:ln>
            <a:noFill/>
          </a:ln>
          <a:effectLst/>
          <a:solidFill>
            <a:srgbClr val="8B5CF6"/>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186415" y="2002536"/>
            <a:ext cx="438912" cy="438912"/>
          </a:xfrm>
          <a:prstGeom prst="ellipse">
            <a:avLst/>
          </a:prstGeom>
          <a:ln w="19050">
            <a:solidFill>
              <a:srgbClr val="F4F8FF"/>
            </a:solidFill>
          </a:ln>
          <a:effectLst/>
          <a:gradFill>
            <a:gsLst>
              <a:gs pos="0">
                <a:srgbClr val="A855F7"/>
              </a:gs>
              <a:gs pos="100000">
                <a:srgbClr val="A855F7"/>
              </a:gs>
            </a:gsLst>
            <a:lin ang="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600" b="1">
                <a:solidFill>
                  <a:srgbClr val="F4F8FF"/>
                </a:solidFill>
                <a:latin typeface="Segoe UI Semibold"/>
              </a:rPr>
              <a:t>4</a:t>
            </a:r>
          </a:p>
        </p:txBody>
      </p:sp>
      <p:sp>
        <p:nvSpPr>
          <p:cNvPr id="19" name="Rounded Rectangle 18"/>
          <p:cNvSpPr/>
          <p:nvPr/>
        </p:nvSpPr>
        <p:spPr>
          <a:xfrm>
            <a:off x="9070848" y="2651760"/>
            <a:ext cx="2670048" cy="1874519"/>
          </a:xfrm>
          <a:prstGeom prst="roundRect">
            <a:avLst>
              <a:gd name="adj" fmla="val 6000"/>
            </a:avLst>
          </a:prstGeom>
          <a:ln w="12700">
            <a:solidFill>
              <a:srgbClr val="3A4D80"/>
            </a:solidFill>
          </a:ln>
          <a:solidFill>
            <a:srgbClr val="16203D">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300"/>
              </a:spcAft>
            </a:pPr>
            <a:r>
              <a:rPr sz="2400" b="0">
                <a:solidFill>
                  <a:srgbClr val="F4F8FF"/>
                </a:solidFill>
                <a:latin typeface="Segoe UI"/>
              </a:rPr>
              <a:t>🌐</a:t>
            </a:r>
          </a:p>
          <a:p>
            <a:pPr algn="ctr">
              <a:lnSpc>
                <a:spcPct val="100000"/>
              </a:lnSpc>
              <a:spcBef>
                <a:spcPts val="0"/>
              </a:spcBef>
              <a:spcAft>
                <a:spcPts val="300"/>
              </a:spcAft>
            </a:pPr>
            <a:r>
              <a:rPr sz="1050" b="1">
                <a:solidFill>
                  <a:srgbClr val="A855F7"/>
                </a:solidFill>
                <a:latin typeface="Segoe UI"/>
              </a:rPr>
              <a:t>PHASE 4</a:t>
            </a:r>
          </a:p>
          <a:p>
            <a:pPr algn="ctr">
              <a:lnSpc>
                <a:spcPct val="100000"/>
              </a:lnSpc>
              <a:spcBef>
                <a:spcPts val="0"/>
              </a:spcBef>
              <a:spcAft>
                <a:spcPts val="300"/>
              </a:spcAft>
            </a:pPr>
            <a:r>
              <a:rPr sz="1350" b="1">
                <a:solidFill>
                  <a:srgbClr val="F4F8FF"/>
                </a:solidFill>
                <a:latin typeface="Segoe UI"/>
              </a:rPr>
              <a:t>Talent Marketplace</a:t>
            </a:r>
          </a:p>
          <a:p>
            <a:pPr algn="ctr">
              <a:lnSpc>
                <a:spcPct val="100000"/>
              </a:lnSpc>
              <a:spcBef>
                <a:spcPts val="0"/>
              </a:spcBef>
              <a:spcAft>
                <a:spcPts val="300"/>
              </a:spcAft>
            </a:pPr>
            <a:r>
              <a:rPr sz="1050" b="0">
                <a:solidFill>
                  <a:srgbClr val="A9B6D6"/>
                </a:solidFill>
                <a:latin typeface="Segoe UI"/>
              </a:rPr>
              <a:t>Internal Mobility Optimization</a:t>
            </a:r>
          </a:p>
        </p:txBody>
      </p:sp>
      <p:sp>
        <p:nvSpPr>
          <p:cNvPr id="20" name="Rectangle 19"/>
          <p:cNvSpPr/>
          <p:nvPr/>
        </p:nvSpPr>
        <p:spPr>
          <a:xfrm>
            <a:off x="9070848" y="2651760"/>
            <a:ext cx="2670048" cy="64008"/>
          </a:xfrm>
          <a:prstGeom prst="rect">
            <a:avLst/>
          </a:prstGeom>
          <a:ln>
            <a:noFill/>
          </a:ln>
          <a:effectLst/>
          <a:solidFill>
            <a:srgbClr val="A855F7"/>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73168"/>
            <a:ext cx="5486400" cy="274320"/>
          </a:xfrm>
          <a:prstGeom prst="rect">
            <a:avLst/>
          </a:prstGeom>
          <a:noFill/>
        </p:spPr>
        <p:txBody>
          <a:bodyPr wrap="square" anchor="t" lIns="0" rIns="0" tIns="0" bIns="0">
            <a:spAutoFit/>
          </a:bodyPr>
          <a:lstStyle/>
          <a:p>
            <a:pPr algn="l">
              <a:lnSpc>
                <a:spcPct val="100000"/>
              </a:lnSpc>
              <a:spcBef>
                <a:spcPts val="0"/>
              </a:spcBef>
              <a:spcAft>
                <a:spcPts val="400"/>
              </a:spcAft>
            </a:pPr>
            <a:r>
              <a:rPr sz="1200" b="1">
                <a:solidFill>
                  <a:srgbClr val="22D3EE"/>
                </a:solidFill>
                <a:latin typeface="Segoe UI"/>
              </a:rPr>
              <a:t>SCALABILITY HIGHLIGHTS</a:t>
            </a:r>
          </a:p>
        </p:txBody>
      </p:sp>
      <p:sp>
        <p:nvSpPr>
          <p:cNvPr id="22" name="Rounded Rectangle 21"/>
          <p:cNvSpPr/>
          <p:nvPr/>
        </p:nvSpPr>
        <p:spPr>
          <a:xfrm>
            <a:off x="566928" y="5074920"/>
            <a:ext cx="1517904" cy="420624"/>
          </a:xfrm>
          <a:prstGeom prst="roundRect">
            <a:avLst>
              <a:gd name="adj" fmla="val 50000"/>
            </a:avLst>
          </a:prstGeom>
          <a:ln w="12700">
            <a:solidFill>
              <a:srgbClr val="3A4D80"/>
            </a:solidFill>
          </a:ln>
          <a:effectLst/>
          <a:solidFill>
            <a:srgbClr val="111A33">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F4F8FF"/>
                </a:solidFill>
                <a:latin typeface="Segoe UI"/>
              </a:rPr>
              <a:t>☁️ Cloud-native</a:t>
            </a:r>
          </a:p>
        </p:txBody>
      </p:sp>
      <p:sp>
        <p:nvSpPr>
          <p:cNvPr id="23" name="Rounded Rectangle 22"/>
          <p:cNvSpPr/>
          <p:nvPr/>
        </p:nvSpPr>
        <p:spPr>
          <a:xfrm>
            <a:off x="2231136" y="5074920"/>
            <a:ext cx="1433779" cy="420624"/>
          </a:xfrm>
          <a:prstGeom prst="roundRect">
            <a:avLst>
              <a:gd name="adj" fmla="val 50000"/>
            </a:avLst>
          </a:prstGeom>
          <a:ln w="12700">
            <a:solidFill>
              <a:srgbClr val="3A4D80"/>
            </a:solidFill>
          </a:ln>
          <a:effectLst/>
          <a:solidFill>
            <a:srgbClr val="111A33">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F4F8FF"/>
                </a:solidFill>
                <a:latin typeface="Segoe UI"/>
              </a:rPr>
              <a:t>🌍 Multi-region</a:t>
            </a:r>
          </a:p>
        </p:txBody>
      </p:sp>
      <p:sp>
        <p:nvSpPr>
          <p:cNvPr id="24" name="Rounded Rectangle 23"/>
          <p:cNvSpPr/>
          <p:nvPr/>
        </p:nvSpPr>
        <p:spPr>
          <a:xfrm>
            <a:off x="3811219" y="5074920"/>
            <a:ext cx="2022652" cy="420624"/>
          </a:xfrm>
          <a:prstGeom prst="roundRect">
            <a:avLst>
              <a:gd name="adj" fmla="val 50000"/>
            </a:avLst>
          </a:prstGeom>
          <a:ln w="12700">
            <a:solidFill>
              <a:srgbClr val="3A4D80"/>
            </a:solidFill>
          </a:ln>
          <a:effectLst/>
          <a:solidFill>
            <a:srgbClr val="111A33">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F4F8FF"/>
                </a:solidFill>
                <a:latin typeface="Segoe UI"/>
              </a:rPr>
              <a:t>🔒 Enterprise security</a:t>
            </a:r>
          </a:p>
        </p:txBody>
      </p:sp>
      <p:sp>
        <p:nvSpPr>
          <p:cNvPr id="25" name="Rounded Rectangle 24"/>
          <p:cNvSpPr/>
          <p:nvPr/>
        </p:nvSpPr>
        <p:spPr>
          <a:xfrm>
            <a:off x="5980176" y="5074920"/>
            <a:ext cx="2359152" cy="420624"/>
          </a:xfrm>
          <a:prstGeom prst="roundRect">
            <a:avLst>
              <a:gd name="adj" fmla="val 50000"/>
            </a:avLst>
          </a:prstGeom>
          <a:ln w="12700">
            <a:solidFill>
              <a:srgbClr val="3A4D80"/>
            </a:solidFill>
          </a:ln>
          <a:effectLst/>
          <a:solidFill>
            <a:srgbClr val="111A33">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F4F8FF"/>
                </a:solidFill>
                <a:latin typeface="Segoe UI"/>
              </a:rPr>
              <a:t>📈 Millions of evaluations</a:t>
            </a:r>
          </a:p>
        </p:txBody>
      </p:sp>
      <p:sp>
        <p:nvSpPr>
          <p:cNvPr id="26" name="Rounded Rectangle 25"/>
          <p:cNvSpPr/>
          <p:nvPr/>
        </p:nvSpPr>
        <p:spPr>
          <a:xfrm>
            <a:off x="8485632" y="5074920"/>
            <a:ext cx="2022652" cy="420624"/>
          </a:xfrm>
          <a:prstGeom prst="roundRect">
            <a:avLst>
              <a:gd name="adj" fmla="val 50000"/>
            </a:avLst>
          </a:prstGeom>
          <a:ln w="12700">
            <a:solidFill>
              <a:srgbClr val="3A4D80"/>
            </a:solidFill>
          </a:ln>
          <a:effectLst/>
          <a:solidFill>
            <a:srgbClr val="111A33">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050" b="1">
                <a:solidFill>
                  <a:srgbClr val="F4F8FF"/>
                </a:solidFill>
                <a:latin typeface="Segoe UI"/>
              </a:rPr>
              <a:t>⚡ Real-time inference</a:t>
            </a:r>
          </a:p>
        </p:txBody>
      </p:sp>
      <p:sp>
        <p:nvSpPr>
          <p:cNvPr id="27" name="Rounded Rectangle 26"/>
          <p:cNvSpPr/>
          <p:nvPr/>
        </p:nvSpPr>
        <p:spPr>
          <a:xfrm>
            <a:off x="566928" y="5650992"/>
            <a:ext cx="11064240" cy="603504"/>
          </a:xfrm>
          <a:prstGeom prst="roundRect">
            <a:avLst>
              <a:gd name="adj" fmla="val 6000"/>
            </a:avLst>
          </a:prstGeom>
          <a:gradFill>
            <a:gsLst>
              <a:gs pos="0">
                <a:srgbClr val="6366F1">
                  <a:alpha val="16000"/>
                </a:srgbClr>
              </a:gs>
              <a:gs pos="100000">
                <a:srgbClr val="A855F7">
                  <a:alpha val="16000"/>
                </a:srgbClr>
              </a:gs>
            </a:gsLst>
            <a:lin ang="0" scaled="1"/>
          </a:gradFill>
          <a:ln w="12700">
            <a:solidFill>
              <a:srgbClr val="3A4D80"/>
            </a:solidFill>
          </a:ln>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50" b="1">
                <a:solidFill>
                  <a:srgbClr val="22D3EE"/>
                </a:solidFill>
                <a:latin typeface="Segoe UI"/>
              </a:rPr>
              <a:t>🎯  Long-Term Vision:   </a:t>
            </a:r>
            <a:r>
              <a:rPr sz="1300" b="1">
                <a:solidFill>
                  <a:srgbClr val="F4F8FF"/>
                </a:solidFill>
                <a:latin typeface="Segoe UI"/>
              </a:rPr>
              <a:t>“From Hiring Platform to Enterprise Talent Intelligence Ecosystem”</a:t>
            </a:r>
          </a:p>
        </p:txBody>
      </p:sp>
      <p:sp>
        <p:nvSpPr>
          <p:cNvPr id="28" name="Rectangle 27"/>
          <p:cNvSpPr/>
          <p:nvPr/>
        </p:nvSpPr>
        <p:spPr>
          <a:xfrm>
            <a:off x="566928" y="6437376"/>
            <a:ext cx="11064240" cy="10972"/>
          </a:xfrm>
          <a:prstGeom prst="rect">
            <a:avLst/>
          </a:prstGeom>
          <a:ln>
            <a:noFill/>
          </a:ln>
          <a:effectLst/>
          <a:solidFill>
            <a:srgbClr val="2B3A63">
              <a:alpha val="7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6492240"/>
            <a:ext cx="7315200" cy="274320"/>
          </a:xfrm>
          <a:prstGeom prst="rect">
            <a:avLst/>
          </a:prstGeom>
          <a:noFill/>
        </p:spPr>
        <p:txBody>
          <a:bodyPr wrap="square" anchor="t" lIns="0" rIns="0" tIns="0" bIns="0">
            <a:spAutoFit/>
          </a:bodyPr>
          <a:lstStyle/>
          <a:p>
            <a:pPr algn="l">
              <a:lnSpc>
                <a:spcPct val="100000"/>
              </a:lnSpc>
              <a:spcBef>
                <a:spcPts val="0"/>
              </a:spcBef>
              <a:spcAft>
                <a:spcPts val="400"/>
              </a:spcAft>
            </a:pPr>
            <a:r>
              <a:rPr sz="900" b="1">
                <a:solidFill>
                  <a:srgbClr val="22D3EE"/>
                </a:solidFill>
                <a:latin typeface="Segoe UI"/>
              </a:rPr>
              <a:t>Connect</a:t>
            </a:r>
            <a:r>
              <a:rPr sz="900" b="0">
                <a:solidFill>
                  <a:srgbClr val="6B7AA0"/>
                </a:solidFill>
                <a:latin typeface="Segoe UI"/>
              </a:rPr>
              <a:t>  •  </a:t>
            </a:r>
            <a:r>
              <a:rPr sz="900" b="1">
                <a:solidFill>
                  <a:srgbClr val="8B5CF6"/>
                </a:solidFill>
                <a:latin typeface="Segoe UI"/>
              </a:rPr>
              <a:t>Innovate</a:t>
            </a:r>
            <a:r>
              <a:rPr sz="900" b="0">
                <a:solidFill>
                  <a:srgbClr val="6B7AA0"/>
                </a:solidFill>
                <a:latin typeface="Segoe UI"/>
              </a:rPr>
              <a:t>  •  </a:t>
            </a:r>
            <a:r>
              <a:rPr sz="900" b="1">
                <a:solidFill>
                  <a:srgbClr val="A855F7"/>
                </a:solidFill>
                <a:latin typeface="Segoe UI"/>
              </a:rPr>
              <a:t>Transform</a:t>
            </a:r>
          </a:p>
        </p:txBody>
      </p:sp>
      <p:sp>
        <p:nvSpPr>
          <p:cNvPr id="30" name="TextBox 29"/>
          <p:cNvSpPr txBox="1"/>
          <p:nvPr/>
        </p:nvSpPr>
        <p:spPr>
          <a:xfrm>
            <a:off x="8869680" y="6492240"/>
            <a:ext cx="2743200" cy="274320"/>
          </a:xfrm>
          <a:prstGeom prst="rect">
            <a:avLst/>
          </a:prstGeom>
          <a:noFill/>
        </p:spPr>
        <p:txBody>
          <a:bodyPr wrap="square" anchor="t" lIns="0" rIns="0" tIns="0" bIns="0">
            <a:spAutoFit/>
          </a:bodyPr>
          <a:lstStyle/>
          <a:p>
            <a:pPr algn="r">
              <a:lnSpc>
                <a:spcPct val="100000"/>
              </a:lnSpc>
              <a:spcBef>
                <a:spcPts val="0"/>
              </a:spcBef>
              <a:spcAft>
                <a:spcPts val="400"/>
              </a:spcAft>
            </a:pPr>
            <a:r>
              <a:rPr sz="900" b="1">
                <a:solidFill>
                  <a:srgbClr val="A9B6D6"/>
                </a:solidFill>
                <a:latin typeface="Segoe UI"/>
              </a:rPr>
              <a:t>Qore.AI</a:t>
            </a:r>
            <a:r>
              <a:rPr sz="900" b="0">
                <a:solidFill>
                  <a:srgbClr val="6B7AA0"/>
                </a:solidFill>
                <a:latin typeface="Segoe UI"/>
              </a:rPr>
              <a:t>   ·   Techforum 2026   ·   </a:t>
            </a:r>
            <a:r>
              <a:rPr sz="900" b="1">
                <a:solidFill>
                  <a:srgbClr val="22D3EE"/>
                </a:solidFill>
                <a:latin typeface="Segoe UI"/>
              </a:rPr>
              <a:t>08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ln>
            <a:noFill/>
          </a:ln>
          <a:effectLst/>
          <a:gradFill>
            <a:gsLst>
              <a:gs pos="0">
                <a:srgbClr val="0A1228"/>
              </a:gs>
              <a:gs pos="55000">
                <a:srgbClr val="120E33"/>
              </a:gs>
              <a:gs pos="100000">
                <a:srgbClr val="1A0E3E"/>
              </a:gs>
            </a:gsLst>
            <a:lin ang="36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1645920"/>
            <a:ext cx="4754880" cy="4754880"/>
          </a:xfrm>
          <a:prstGeom prst="ellipse">
            <a:avLst/>
          </a:prstGeom>
          <a:ln>
            <a:noFill/>
          </a:ln>
          <a:effectLst/>
          <a:solidFill>
            <a:srgbClr val="6366F1">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82735" y="3566160"/>
            <a:ext cx="4937760" cy="4937760"/>
          </a:xfrm>
          <a:prstGeom prst="ellipse">
            <a:avLst/>
          </a:prstGeom>
          <a:ln>
            <a:noFill/>
          </a:ln>
          <a:effectLst/>
          <a:solidFill>
            <a:srgbClr val="A855F7">
              <a:alpha val="14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267047" y="-2011680"/>
            <a:ext cx="4023360" cy="4023360"/>
          </a:xfrm>
          <a:prstGeom prst="ellipse">
            <a:avLst/>
          </a:prstGeom>
          <a:ln>
            <a:noFill/>
          </a:ln>
          <a:effectLst/>
          <a:solidFill>
            <a:srgbClr val="22D3EE">
              <a:alpha val="1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718304" y="1051560"/>
            <a:ext cx="2743200" cy="384048"/>
          </a:xfrm>
          <a:prstGeom prst="roundRect">
            <a:avLst>
              <a:gd name="adj" fmla="val 50000"/>
            </a:avLst>
          </a:prstGeom>
          <a:ln w="12700">
            <a:solidFill>
              <a:srgbClr val="3A4D80"/>
            </a:solidFill>
          </a:ln>
          <a:effectLst/>
          <a:solidFill>
            <a:srgbClr val="16203D">
              <a:alpha val="92000"/>
            </a:srgbClr>
          </a:soli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1200" b="1">
                <a:solidFill>
                  <a:srgbClr val="22D3EE"/>
                </a:solidFill>
                <a:latin typeface="Segoe UI"/>
              </a:rPr>
              <a:t>TECHFORUM  2026</a:t>
            </a:r>
          </a:p>
        </p:txBody>
      </p:sp>
      <p:sp>
        <p:nvSpPr>
          <p:cNvPr id="7" name="TextBox 6"/>
          <p:cNvSpPr txBox="1"/>
          <p:nvPr/>
        </p:nvSpPr>
        <p:spPr>
          <a:xfrm>
            <a:off x="0" y="1783080"/>
            <a:ext cx="12191695" cy="1371600"/>
          </a:xfrm>
          <a:prstGeom prst="rect">
            <a:avLst/>
          </a:prstGeom>
          <a:noFill/>
        </p:spPr>
        <p:txBody>
          <a:bodyPr wrap="square" anchor="t" lIns="0" rIns="0" tIns="0" bIns="0">
            <a:spAutoFit/>
          </a:bodyPr>
          <a:lstStyle/>
          <a:p>
            <a:pPr algn="ctr">
              <a:lnSpc>
                <a:spcPct val="100000"/>
              </a:lnSpc>
              <a:spcBef>
                <a:spcPts val="0"/>
              </a:spcBef>
              <a:spcAft>
                <a:spcPts val="400"/>
              </a:spcAft>
            </a:pPr>
            <a:r>
              <a:rPr sz="7600" b="1">
                <a:gradFill>
                  <a:gsLst>
                    <a:gs pos="0">
                      <a:srgbClr val="22D3EE"/>
                    </a:gs>
                    <a:gs pos="100000">
                      <a:srgbClr val="A855F7"/>
                    </a:gs>
                  </a:gsLst>
                  <a:lin ang="1200000" scaled="1"/>
                </a:gradFill>
                <a:latin typeface="Segoe UI Semibold"/>
              </a:rPr>
              <a:t>Thank You</a:t>
            </a:r>
          </a:p>
        </p:txBody>
      </p:sp>
      <p:sp>
        <p:nvSpPr>
          <p:cNvPr id="8" name="TextBox 7"/>
          <p:cNvSpPr txBox="1"/>
          <p:nvPr/>
        </p:nvSpPr>
        <p:spPr>
          <a:xfrm>
            <a:off x="0" y="3200400"/>
            <a:ext cx="12191695" cy="457200"/>
          </a:xfrm>
          <a:prstGeom prst="rect">
            <a:avLst/>
          </a:prstGeom>
          <a:noFill/>
        </p:spPr>
        <p:txBody>
          <a:bodyPr wrap="square" anchor="t" lIns="0" rIns="0" tIns="0" bIns="0">
            <a:spAutoFit/>
          </a:bodyPr>
          <a:lstStyle/>
          <a:p>
            <a:pPr algn="ctr">
              <a:lnSpc>
                <a:spcPct val="100000"/>
              </a:lnSpc>
              <a:spcBef>
                <a:spcPts val="0"/>
              </a:spcBef>
              <a:spcAft>
                <a:spcPts val="400"/>
              </a:spcAft>
            </a:pPr>
            <a:r>
              <a:rPr sz="2000" b="1">
                <a:solidFill>
                  <a:srgbClr val="F4F8FF"/>
                </a:solidFill>
                <a:latin typeface="Segoe UI"/>
              </a:rPr>
              <a:t>Transforming Talent Acquisition Through AI</a:t>
            </a:r>
          </a:p>
        </p:txBody>
      </p:sp>
      <p:sp>
        <p:nvSpPr>
          <p:cNvPr id="9" name="Rounded Rectangle 8"/>
          <p:cNvSpPr/>
          <p:nvPr/>
        </p:nvSpPr>
        <p:spPr>
          <a:xfrm>
            <a:off x="2813151"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10" name="Chevron 9"/>
          <p:cNvSpPr/>
          <p:nvPr/>
        </p:nvSpPr>
        <p:spPr>
          <a:xfrm>
            <a:off x="3617823" y="4197096"/>
            <a:ext cx="274320" cy="292608"/>
          </a:xfrm>
          <a:prstGeom prst="chevron">
            <a:avLst/>
          </a:prstGeom>
          <a:ln>
            <a:noFill/>
          </a:ln>
          <a:effectLst/>
          <a:solidFill>
            <a:srgbClr val="22D3EE">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983583"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12" name="Chevron 11"/>
          <p:cNvSpPr/>
          <p:nvPr/>
        </p:nvSpPr>
        <p:spPr>
          <a:xfrm>
            <a:off x="4788255" y="4197096"/>
            <a:ext cx="274320" cy="292608"/>
          </a:xfrm>
          <a:prstGeom prst="chevron">
            <a:avLst/>
          </a:prstGeom>
          <a:ln>
            <a:noFill/>
          </a:ln>
          <a:effectLst/>
          <a:solidFill>
            <a:srgbClr val="6366F1">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54015"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14" name="Chevron 13"/>
          <p:cNvSpPr/>
          <p:nvPr/>
        </p:nvSpPr>
        <p:spPr>
          <a:xfrm>
            <a:off x="5958687" y="4197096"/>
            <a:ext cx="274320" cy="292608"/>
          </a:xfrm>
          <a:prstGeom prst="chevron">
            <a:avLst/>
          </a:prstGeom>
          <a:ln>
            <a:noFill/>
          </a:ln>
          <a:effectLst/>
          <a:solidFill>
            <a:srgbClr val="8B5CF6">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24447"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16" name="Chevron 15"/>
          <p:cNvSpPr/>
          <p:nvPr/>
        </p:nvSpPr>
        <p:spPr>
          <a:xfrm>
            <a:off x="7129119" y="4197096"/>
            <a:ext cx="274320" cy="292608"/>
          </a:xfrm>
          <a:prstGeom prst="chevron">
            <a:avLst/>
          </a:prstGeom>
          <a:ln>
            <a:noFill/>
          </a:ln>
          <a:effectLst/>
          <a:solidFill>
            <a:srgbClr val="A855F7">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94879"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18" name="Chevron 17"/>
          <p:cNvSpPr/>
          <p:nvPr/>
        </p:nvSpPr>
        <p:spPr>
          <a:xfrm>
            <a:off x="8299551" y="4197096"/>
            <a:ext cx="274320" cy="292608"/>
          </a:xfrm>
          <a:prstGeom prst="chevron">
            <a:avLst/>
          </a:prstGeom>
          <a:ln>
            <a:noFill/>
          </a:ln>
          <a:effectLst/>
          <a:solidFill>
            <a:srgbClr val="6366F1">
              <a:alpha val="7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65311" y="3977639"/>
            <a:ext cx="713232" cy="713232"/>
          </a:xfrm>
          <a:prstGeom prst="roundRect">
            <a:avLst>
              <a:gd name="adj" fmla="val 28000"/>
            </a:avLst>
          </a:prstGeom>
          <a:ln w="12700">
            <a:solidFill>
              <a:srgbClr val="3A4D80"/>
            </a:solidFill>
          </a:ln>
          <a:effectLst/>
          <a:gradFill>
            <a:gsLst>
              <a:gs pos="0">
                <a:srgbClr val="22D3EE">
                  <a:alpha val="20000"/>
                </a:srgbClr>
              </a:gs>
              <a:gs pos="100000">
                <a:srgbClr val="A855F7">
                  <a:alpha val="22000"/>
                </a:srgbClr>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0">
                <a:solidFill>
                  <a:srgbClr val="F4F8FF"/>
                </a:solidFill>
                <a:latin typeface="Segoe UI"/>
              </a:rPr>
              <a:t>🚀</a:t>
            </a:r>
          </a:p>
        </p:txBody>
      </p:sp>
      <p:sp>
        <p:nvSpPr>
          <p:cNvPr id="20" name="Rounded Rectangle 19"/>
          <p:cNvSpPr/>
          <p:nvPr/>
        </p:nvSpPr>
        <p:spPr>
          <a:xfrm>
            <a:off x="3992727" y="5074920"/>
            <a:ext cx="4206240" cy="868680"/>
          </a:xfrm>
          <a:prstGeom prst="roundRect">
            <a:avLst>
              <a:gd name="adj" fmla="val 6000"/>
            </a:avLst>
          </a:prstGeom>
          <a:ln w="12700">
            <a:solidFill>
              <a:srgbClr val="3A4D80"/>
            </a:solidFill>
          </a:ln>
          <a:solidFill>
            <a:srgbClr val="111A33">
              <a:alpha val="96000"/>
            </a:srgbClr>
          </a:solidFill>
          <a:effectLst>
            <a:outerShdw blurRad="279400" dist="127000" dir="5400000" rotWithShape="0">
              <a:srgbClr val="05060F">
                <a:alpha val="46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lnSpc>
                <a:spcPct val="100000"/>
              </a:lnSpc>
              <a:spcBef>
                <a:spcPts val="0"/>
              </a:spcBef>
              <a:spcAft>
                <a:spcPts val="200"/>
              </a:spcAft>
            </a:pPr>
            <a:r>
              <a:rPr sz="2200" b="1">
                <a:gradFill>
                  <a:gsLst>
                    <a:gs pos="0">
                      <a:srgbClr val="22D3EE"/>
                    </a:gs>
                    <a:gs pos="100000">
                      <a:srgbClr val="A855F7"/>
                    </a:gs>
                  </a:gsLst>
                  <a:lin ang="1200000" scaled="1"/>
                </a:gradFill>
                <a:latin typeface="Segoe UI Semibold"/>
              </a:rPr>
              <a:t>Qore.AI</a:t>
            </a:r>
          </a:p>
          <a:p>
            <a:pPr algn="ctr">
              <a:lnSpc>
                <a:spcPct val="100000"/>
              </a:lnSpc>
              <a:spcBef>
                <a:spcPts val="0"/>
              </a:spcBef>
              <a:spcAft>
                <a:spcPts val="200"/>
              </a:spcAft>
            </a:pPr>
            <a:r>
              <a:rPr sz="1100" b="0">
                <a:solidFill>
                  <a:srgbClr val="A9B6D6"/>
                </a:solidFill>
                <a:latin typeface="Segoe UI"/>
              </a:rPr>
              <a:t>AI-Driven Intelligent Hiring Orchestrator</a:t>
            </a:r>
          </a:p>
        </p:txBody>
      </p:sp>
      <p:sp>
        <p:nvSpPr>
          <p:cNvPr id="21" name="TextBox 20"/>
          <p:cNvSpPr txBox="1"/>
          <p:nvPr/>
        </p:nvSpPr>
        <p:spPr>
          <a:xfrm>
            <a:off x="0" y="6172200"/>
            <a:ext cx="12191695" cy="365760"/>
          </a:xfrm>
          <a:prstGeom prst="rect">
            <a:avLst/>
          </a:prstGeom>
          <a:noFill/>
        </p:spPr>
        <p:txBody>
          <a:bodyPr wrap="square" anchor="t" lIns="0" rIns="0" tIns="0" bIns="0">
            <a:spAutoFit/>
          </a:bodyPr>
          <a:lstStyle/>
          <a:p>
            <a:pPr algn="ctr">
              <a:lnSpc>
                <a:spcPct val="100000"/>
              </a:lnSpc>
              <a:spcBef>
                <a:spcPts val="0"/>
              </a:spcBef>
              <a:spcAft>
                <a:spcPts val="400"/>
              </a:spcAft>
            </a:pPr>
            <a:r>
              <a:rPr sz="1200" b="1">
                <a:solidFill>
                  <a:srgbClr val="22D3EE"/>
                </a:solidFill>
                <a:latin typeface="Segoe UI"/>
              </a:rPr>
              <a:t>Connect</a:t>
            </a:r>
            <a:r>
              <a:rPr sz="1200" b="0">
                <a:solidFill>
                  <a:srgbClr val="6B7AA0"/>
                </a:solidFill>
                <a:latin typeface="Segoe UI"/>
              </a:rPr>
              <a:t>   •   </a:t>
            </a:r>
            <a:r>
              <a:rPr sz="1200" b="1">
                <a:solidFill>
                  <a:srgbClr val="8B5CF6"/>
                </a:solidFill>
                <a:latin typeface="Segoe UI"/>
              </a:rPr>
              <a:t>Innovate</a:t>
            </a:r>
            <a:r>
              <a:rPr sz="1200" b="0">
                <a:solidFill>
                  <a:srgbClr val="6B7AA0"/>
                </a:solidFill>
                <a:latin typeface="Segoe UI"/>
              </a:rPr>
              <a:t>   •   </a:t>
            </a:r>
            <a:r>
              <a:rPr sz="1200" b="1">
                <a:solidFill>
                  <a:srgbClr val="A855F7"/>
                </a:solidFill>
                <a:latin typeface="Segoe UI"/>
              </a:rPr>
              <a:t>Transform</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